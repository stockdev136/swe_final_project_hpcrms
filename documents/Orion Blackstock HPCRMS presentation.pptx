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A4D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B1B33"/>
          </a:solidFill>
          <a:ln/>
        </p:spPr>
      </p:sp>
      <p:sp>
        <p:nvSpPr>
          <p:cNvPr id="4" name="Shape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0B1B33"/>
          </a:solidFill>
          <a:ln/>
        </p:spPr>
      </p:sp>
      <p:pic>
        <p:nvPicPr>
          <p:cNvPr id="5" name="Image 0" descr="assets/logo_lock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965960"/>
            <a:ext cx="8686800" cy="23134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01368" y="4736592"/>
            <a:ext cx="45720" cy="31089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2002536" y="4709160"/>
            <a:ext cx="8394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Blackstock</a:t>
            </a:r>
            <a:pPr indent="0" marL="0">
              <a:buNone/>
            </a:pPr>
            <a:r>
              <a:rPr lang="en-US" sz="1700" dirty="0">
                <a:solidFill>
                  <a:srgbClr val="9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(618684)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801368" y="5184648"/>
            <a:ext cx="45720" cy="274320"/>
          </a:xfrm>
          <a:prstGeom prst="rect">
            <a:avLst/>
          </a:prstGeom>
          <a:solidFill>
            <a:srgbClr val="3A5580"/>
          </a:solidFill>
          <a:ln/>
        </p:spPr>
      </p:sp>
      <p:sp>
        <p:nvSpPr>
          <p:cNvPr id="9" name="Text 6"/>
          <p:cNvSpPr/>
          <p:nvPr/>
        </p:nvSpPr>
        <p:spPr>
          <a:xfrm>
            <a:off x="2002536" y="5166360"/>
            <a:ext cx="8394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Project — Software Engineering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801368" y="5623560"/>
            <a:ext cx="45720" cy="274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8"/>
          <p:cNvSpPr/>
          <p:nvPr/>
        </p:nvSpPr>
        <p:spPr>
          <a:xfrm>
            <a:off x="2002536" y="5605272"/>
            <a:ext cx="8394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</a:t>
            </a:r>
            <a:pPr indent="0" marL="0">
              <a:buNone/>
            </a:pPr>
            <a:r>
              <a:rPr lang="en-US" sz="145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github.com/StockDev136/SWE_Final_Project_HPCRMS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926080"/>
            <a:ext cx="7315200" cy="7315200"/>
          </a:xfrm>
          <a:prstGeom prst="ellipse">
            <a:avLst/>
          </a:prstGeom>
          <a:solidFill>
            <a:srgbClr val="0B1B33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389120"/>
            <a:ext cx="6400800" cy="6400800"/>
          </a:xfrm>
          <a:prstGeom prst="ellipse">
            <a:avLst/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566928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2440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554480" y="1051560"/>
            <a:ext cx="90799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 traditional vehicle rental operations into a seamless digital experience — minimizing customer wait times, automating rental processes, and providing fast, secure, and convenient access to vehicles.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2194560" y="3703320"/>
            <a:ext cx="7799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i="1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will improve operational efficiency, maximize fleet utilization, and deliver a superior customer experience across all rental locations.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" y="470916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0B1B33"/>
          </a:solidFill>
          <a:ln w="12700">
            <a:solidFill>
              <a:srgbClr val="3A55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4800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50392" y="51663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Wait Times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65576" y="470916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0B1B33"/>
          </a:solidFill>
          <a:ln w="12700">
            <a:solidFill>
              <a:srgbClr val="3A55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4800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93592" y="51663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Rental Processes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8776" y="470916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0B1B33"/>
          </a:solidFill>
          <a:ln w="12700">
            <a:solidFill>
              <a:srgbClr val="3A55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08776" y="4800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36792" y="51663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Secure Access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51976" y="470916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0B1B33"/>
          </a:solidFill>
          <a:ln w="12700">
            <a:solidFill>
              <a:srgbClr val="3A55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51976" y="4800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079992" y="5166360"/>
            <a:ext cx="2258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Fleet Utilization</a:t>
            </a:r>
            <a:endParaRPr lang="en-US" sz="1050" dirty="0"/>
          </a:p>
        </p:txBody>
      </p:sp>
      <p:pic>
        <p:nvPicPr>
          <p:cNvPr id="20" name="Image 0" descr="assets/log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4436" y="608076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554480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325880" y="15544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traditional car rental counters fall short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40080" y="2212848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25880" y="2212848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HPCRMS delivers, end to end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40080" y="2871216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325880" y="2871216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capabilities that define the platform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40080" y="3529584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325880" y="3529584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Model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customers and staff interact with the system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263640" y="1554480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6949440" y="1554480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technical foundation — React + Spring Boot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263640" y="2212848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949440" y="2212848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Reservation, Check-In, and Payment traced step by step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263640" y="2871216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949440" y="2871216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VOPC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collaborations and participating classes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263640" y="3529584"/>
            <a:ext cx="731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949440" y="3529584"/>
            <a:ext cx="4572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450" dirty="0"/>
          </a:p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documentation to a working system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Renting a car still feels stuck in the past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09344" y="2011680"/>
            <a:ext cx="640080" cy="64008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6" name="Text 4"/>
          <p:cNvSpPr/>
          <p:nvPr/>
        </p:nvSpPr>
        <p:spPr>
          <a:xfrm>
            <a:off x="160934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283464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counter wait times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566160"/>
            <a:ext cx="21762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paperwork and in-person ID checks slow every pickup, even for returning customers.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69164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3984" y="2011680"/>
            <a:ext cx="640080" cy="64008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11" name="Text 9"/>
          <p:cNvSpPr/>
          <p:nvPr/>
        </p:nvSpPr>
        <p:spPr>
          <a:xfrm>
            <a:off x="444398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75888" y="283464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visibility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75888" y="3566160"/>
            <a:ext cx="21762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availability isn't synchronized across branches, leading to overbooking and lost reservations.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69164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78624" y="2011680"/>
            <a:ext cx="640080" cy="64008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16" name="Text 14"/>
          <p:cNvSpPr/>
          <p:nvPr/>
        </p:nvSpPr>
        <p:spPr>
          <a:xfrm>
            <a:off x="727862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283464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Paper-heavy processes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10528" y="3566160"/>
            <a:ext cx="21762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agreements, inspections, and payments are still handled on paper or disconnected tools.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44000" y="1691640"/>
            <a:ext cx="2578608" cy="4160520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13264" y="2011680"/>
            <a:ext cx="640080" cy="64008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21" name="Text 19"/>
          <p:cNvSpPr/>
          <p:nvPr/>
        </p:nvSpPr>
        <p:spPr>
          <a:xfrm>
            <a:off x="10113264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345168" y="283464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fleet oversight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345168" y="3566160"/>
            <a:ext cx="21762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schedules and utilization data live in spreadsheets, not a single source of truth.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HPCRMS: one platform for the entire rental lifecycle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 Priority Car Rental Management System digitizes reservation, identity verification, digital check-in, payment, pickup, return, and fleet operations — replacing manual counter processes with a fast, self-service experience backed by a real-time, centralized platform.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 sec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43616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search response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931920" y="3794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5 sec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0" y="43616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confirmation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55046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users supported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931920" y="4937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5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99.9%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931920" y="55046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availability target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452360" y="1463040"/>
            <a:ext cx="4114800" cy="4846320"/>
          </a:xfrm>
          <a:prstGeom prst="roundRect">
            <a:avLst>
              <a:gd name="adj" fmla="val 2222"/>
            </a:avLst>
          </a:prstGeom>
          <a:solidFill>
            <a:srgbClr val="122A4D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0" y="194919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0" y="19491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173736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&amp; Verify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772400" y="266547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2665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245364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Reserve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0" y="338175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3381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316992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Check-In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772400" y="409803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40980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88620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Securely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772400" y="481431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0" y="4814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60248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Pickup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772400" y="5530596"/>
            <a:ext cx="292608" cy="29260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0" y="55305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5318760"/>
            <a:ext cx="310896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&amp; Inspect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 modern rental experience needs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1801368"/>
            <a:ext cx="731520" cy="7315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Accounts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login, and profile &amp; rental history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71216" y="160020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47872" y="180136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10" name="Text 8"/>
          <p:cNvSpPr/>
          <p:nvPr/>
        </p:nvSpPr>
        <p:spPr>
          <a:xfrm>
            <a:off x="2999232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Reserve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99232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cross-branch availability search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102352" y="160020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779008" y="180136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Verification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30368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driver's-license &amp; selfie validation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33488" y="160020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10144" y="1801368"/>
            <a:ext cx="731520" cy="7315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7461504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Check-In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61504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Paperless rental agreement with e-signature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564624" y="160020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241280" y="180136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0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Payment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92640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payments, receipts, and refunds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79476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16736" y="399592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4782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Pickup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8096" y="5129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the counter with a scannable pickup code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71216" y="379476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547872" y="3995928"/>
            <a:ext cx="731520" cy="7315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0" name="Text 28"/>
          <p:cNvSpPr/>
          <p:nvPr/>
        </p:nvSpPr>
        <p:spPr>
          <a:xfrm>
            <a:off x="2999232" y="4782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&amp; Inspection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99232" y="5129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condition, mileage &amp; damage capture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02352" y="379476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79008" y="399592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34" name="Text 32"/>
          <p:cNvSpPr/>
          <p:nvPr/>
        </p:nvSpPr>
        <p:spPr>
          <a:xfrm>
            <a:off x="5230368" y="4782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Management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30368" y="5129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vehicle assignment &amp; maintenance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3488" y="379476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010144" y="3995928"/>
            <a:ext cx="731520" cy="731520"/>
          </a:xfrm>
          <a:prstGeom prst="ellipse">
            <a:avLst/>
          </a:prstGeom>
          <a:solidFill>
            <a:srgbClr val="122A4D"/>
          </a:solidFill>
          <a:ln/>
        </p:spPr>
      </p:sp>
      <p:sp>
        <p:nvSpPr>
          <p:cNvPr id="38" name="Text 36"/>
          <p:cNvSpPr/>
          <p:nvPr/>
        </p:nvSpPr>
        <p:spPr>
          <a:xfrm>
            <a:off x="7461504" y="4782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Analytics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61504" y="5129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Utilization, revenue, and demand forecasting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564624" y="3794760"/>
            <a:ext cx="208483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0241280" y="3995928"/>
            <a:ext cx="731520" cy="73152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42" name="Text 40"/>
          <p:cNvSpPr/>
          <p:nvPr/>
        </p:nvSpPr>
        <p:spPr>
          <a:xfrm>
            <a:off x="9692640" y="4782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Security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692640" y="512978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RBAC, MFA, and end-to-end encryption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customer rental lifecycle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registration through reservation, identity verification, digital check-in, payment, pickup, return, and notifications — modeled from the project's SRS.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863453" y="1719072"/>
            <a:ext cx="6462046" cy="4654296"/>
          </a:xfrm>
          <a:prstGeom prst="roundRect">
            <a:avLst>
              <a:gd name="adj" fmla="val 1179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usecase_custo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3181" y="1828800"/>
            <a:ext cx="624259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Fleet, administration &amp; reporting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Staff-facing use cases covering vehicle inventory, maintenance scheduling, reporting/analytics, and role-based user administration.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748244" y="1719072"/>
            <a:ext cx="6692463" cy="4654296"/>
          </a:xfrm>
          <a:prstGeom prst="roundRect">
            <a:avLst>
              <a:gd name="adj" fmla="val 1179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usecase_sta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972" y="1828800"/>
            <a:ext cx="6473007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layered client–server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 + TypeScript + Tailwind single-page application talks to a layered Spring Boot REST API (Controller / Business / Repository, with Spring Security and Hibernate ORM), backed by a centralized database and third-party services.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808510" y="1764792"/>
            <a:ext cx="8571933" cy="4425696"/>
          </a:xfrm>
          <a:prstGeom prst="roundRect">
            <a:avLst>
              <a:gd name="adj" fmla="val 1240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8238" y="1874520"/>
            <a:ext cx="8352477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5486400" cy="5486400"/>
          </a:xfrm>
          <a:prstGeom prst="ellipse">
            <a:avLst/>
          </a:prstGeom>
          <a:solidFill>
            <a:srgbClr val="0B1B3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 modern, proven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76148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application, Tailwind CSS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9202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26280" y="22128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526280" y="276148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REST API — Controller / Service / Repository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173736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192024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83880" y="221284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183880" y="276148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RBAC, dependency injection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68680" y="44531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ORM / DAO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68680" y="50017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layer over the database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97680" y="39776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4160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26280" y="44531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HPCRMS Database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526280" y="50017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relational store, real-time sync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55280" y="39776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0B1B33"/>
          </a:solidFill>
          <a:ln w="12700">
            <a:solidFill>
              <a:srgbClr val="2440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83880" y="41605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183880" y="44531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Payment, Notification, License Services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183880" y="500176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from the Business layer only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use case: Reservation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boundary, control, entity, and database classes collaborate to search availability and create a reservation — the same Boundary/Control/Entity pattern used throughout the analysis.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44368" y="1719072"/>
            <a:ext cx="6300216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seq_reser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4096" y="1828800"/>
            <a:ext cx="608076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use case: Check-In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check-in coordinates identity verification through the external License Verification Service, generates the rental agreement, and persists the signed contract.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077547" y="1719072"/>
            <a:ext cx="6033858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seq_check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275" y="1828800"/>
            <a:ext cx="5814402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Tracing a use case: Payment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processing calculates charges from the reservation, creates a payment record, and coordinates with the external Payment Service before persisting the result.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99530" y="1719072"/>
            <a:ext cx="6189893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seq_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9258" y="1828800"/>
            <a:ext cx="5970437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Reservation: object collaborations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Reservation interaction shown as a network of linked objects, with numbered messages along each link in place of a vertical time axis.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654286" y="1719072"/>
            <a:ext cx="6880380" cy="4151376"/>
          </a:xfrm>
          <a:prstGeom prst="roundRect">
            <a:avLst>
              <a:gd name="adj" fmla="val 132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collab_reser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4014" y="1828800"/>
            <a:ext cx="6660924" cy="3931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Check-In: object collaborations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CheckInController coordinates with the external License Verification Service, the Reservation and RentalAgreement objects, and the HPCRMSDB, mirroring the check-in sequence diagram.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903715" y="1719072"/>
            <a:ext cx="6381521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collab_check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3443" y="1828800"/>
            <a:ext cx="6162065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Payment: object collaborations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PaymentController links to the external Payment Service, the Payment and Reservation objects, and the HPCRMS database to complete a transaction.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027999" y="1719072"/>
            <a:ext cx="6132955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collab_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7727" y="1828800"/>
            <a:ext cx="5913499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Reservation: participating classes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 of Participating Classes for the Reservation use case — ReservationController, Vehicle, Reservation, and HPCRMSDB — with their key attributes and operations.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44318" y="1719072"/>
            <a:ext cx="7100316" cy="4151376"/>
          </a:xfrm>
          <a:prstGeom prst="roundRect">
            <a:avLst>
              <a:gd name="adj" fmla="val 132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vopc_reser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046" y="1828800"/>
            <a:ext cx="6880860" cy="3931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Check-In: participating classes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 of Participating Classes for Check-In — CheckInController, LicenseVerificationService, Reservation, RentalAgreement, and HPCRMSDB.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074195" y="1719072"/>
            <a:ext cx="6040562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vopc_check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3923" y="1828800"/>
            <a:ext cx="5821106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VOPC DIAGRAMS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Payment: participating classes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 of Participating Classes for Payment — PaymentController, PaymentService, Payment, Reservation, and HPCRMS.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728530" y="1719072"/>
            <a:ext cx="6731891" cy="4562856"/>
          </a:xfrm>
          <a:prstGeom prst="roundRect">
            <a:avLst>
              <a:gd name="adj" fmla="val 1202"/>
            </a:avLst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pic>
        <p:nvPicPr>
          <p:cNvPr id="6" name="Image 0" descr="assets/vopc_pay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58" y="1828800"/>
            <a:ext cx="6512435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documentation to a working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953512"/>
            <a:ext cx="10515600" cy="0"/>
          </a:xfrm>
          <a:prstGeom prst="line">
            <a:avLst/>
          </a:prstGeom>
          <a:noFill/>
          <a:ln w="25400">
            <a:solidFill>
              <a:srgbClr val="C7D2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2956" y="2807208"/>
            <a:ext cx="292608" cy="292608"/>
          </a:xfrm>
          <a:prstGeom prst="ellipse">
            <a:avLst/>
          </a:prstGeom>
          <a:solidFill>
            <a:srgbClr val="FF6B35"/>
          </a:solidFill>
          <a:ln w="25400">
            <a:solidFill>
              <a:srgbClr val="E853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29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32688" y="17647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42416" y="18745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Document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42416" y="22494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statement, stakeholders, and feature needs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05556" y="2807208"/>
            <a:ext cx="292608" cy="292608"/>
          </a:xfrm>
          <a:prstGeom prst="ellipse">
            <a:avLst/>
          </a:prstGeom>
          <a:solidFill>
            <a:srgbClr val="FF6B35"/>
          </a:solidFill>
          <a:ln w="25400">
            <a:solidFill>
              <a:srgbClr val="E853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055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85288" y="33649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95016" y="34747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&amp; Use-Case Model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95016" y="38496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requirements, actors, use-case diagrams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58156" y="2807208"/>
            <a:ext cx="292608" cy="292608"/>
          </a:xfrm>
          <a:prstGeom prst="ellipse">
            <a:avLst/>
          </a:prstGeom>
          <a:solidFill>
            <a:srgbClr val="FF6B35"/>
          </a:solidFill>
          <a:ln w="25400">
            <a:solidFill>
              <a:srgbClr val="E853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81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7888" y="17647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47616" y="18745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47616" y="22494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React + Spring Boot architecture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10756" y="2807208"/>
            <a:ext cx="292608" cy="292608"/>
          </a:xfrm>
          <a:prstGeom prst="ellipse">
            <a:avLst/>
          </a:prstGeom>
          <a:solidFill>
            <a:srgbClr val="FF6B35"/>
          </a:solidFill>
          <a:ln w="25400">
            <a:solidFill>
              <a:srgbClr val="E853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07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90488" y="33649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00216" y="34747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Diagrams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00216" y="38496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Reservation, Check-In, and Payment traced in detail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563356" y="2807208"/>
            <a:ext cx="292608" cy="292608"/>
          </a:xfrm>
          <a:prstGeom prst="ellipse">
            <a:avLst/>
          </a:prstGeom>
          <a:solidFill>
            <a:srgbClr val="FF6B35"/>
          </a:solidFill>
          <a:ln w="25400">
            <a:solidFill>
              <a:srgbClr val="E853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633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943088" y="17647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052816" y="18745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VOPC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52816" y="22494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collaborations and participating classes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315956" y="2807208"/>
            <a:ext cx="292608" cy="2926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B6B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1595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695688" y="3364992"/>
            <a:ext cx="153314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B1B33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805416" y="3474720"/>
            <a:ext cx="1313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Design &amp; Implementation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805416" y="3849624"/>
            <a:ext cx="1313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schema, API contracts, build &amp; test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  </a:t>
            </a:r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indent="0" marL="0">
              <a:buNone/>
            </a:pPr>
            <a:r>
              <a:rPr lang="en-US" sz="1100" b="1" dirty="0">
                <a:solidFill>
                  <a:srgbClr val="1A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Upcoming   </a:t>
            </a:r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377440"/>
            <a:ext cx="6400800" cy="6400800"/>
          </a:xfrm>
          <a:prstGeom prst="ellipse">
            <a:avLst/>
          </a:prstGeom>
          <a:solidFill>
            <a:srgbClr val="0B1B33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3840480"/>
            <a:ext cx="5943600" cy="5943600"/>
          </a:xfrm>
          <a:prstGeom prst="ellipse">
            <a:avLst/>
          </a:prstGeom>
          <a:solidFill>
            <a:srgbClr val="0B1B33"/>
          </a:solidFill>
          <a:ln/>
        </p:spPr>
      </p:sp>
      <p:pic>
        <p:nvPicPr>
          <p:cNvPr id="4" name="Image 0" descr="assets/log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7236" y="105156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8803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611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2026-08-09T02:13:31Z</dcterms:created>
  <dcterms:modified xsi:type="dcterms:W3CDTF">2026-08-09T02:13:31Z</dcterms:modified>
</cp:coreProperties>
</file>