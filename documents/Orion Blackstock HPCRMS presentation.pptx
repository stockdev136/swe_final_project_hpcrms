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9" r:id="rId24"/>
    <p:sldId id="276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6929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15ADD-540C-3607-8659-63EA90359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EA9EC8-494A-59AF-8402-A060284461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42038E-85E7-0573-1C0C-58D37B5B80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209DB-A600-1435-B42A-0A5B567F75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05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31D9C-461F-399E-5D7A-A31879A58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C2222C-1AAC-76ED-40F3-754FCA9984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E16F5D-FD5B-A93B-8B9B-4A5420D196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DAD80-6FB4-95D3-E18A-6A31386006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1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2888A-725F-F529-4490-AA6EAFC3A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20833E-E028-75C4-55F0-02479EB329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0EFDBC-A0F1-2B33-4F2E-5323A029E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BA42D-7256-758D-9FDB-C1AC272B9C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1221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B1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2377440" y="4206240"/>
            <a:ext cx="5486400" cy="5486400"/>
          </a:xfrm>
          <a:prstGeom prst="ellipse">
            <a:avLst/>
          </a:prstGeom>
          <a:solidFill>
            <a:srgbClr val="0B1B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assets/logo_locku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1965960"/>
            <a:ext cx="8686800" cy="23134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01368" y="4736592"/>
            <a:ext cx="45720" cy="31089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002536" y="4709160"/>
            <a:ext cx="8394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 Blackstock</a:t>
            </a:r>
            <a:r>
              <a:rPr lang="en-US" sz="170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(618684)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801368" y="5184648"/>
            <a:ext cx="45720" cy="274320"/>
          </a:xfrm>
          <a:prstGeom prst="rect">
            <a:avLst/>
          </a:prstGeom>
          <a:solidFill>
            <a:srgbClr val="3A55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002536" y="5166360"/>
            <a:ext cx="8394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Project — Software Engineering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801368" y="5623560"/>
            <a:ext cx="45720" cy="2743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002536" y="5605272"/>
            <a:ext cx="8394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</a:t>
            </a:r>
            <a:r>
              <a:rPr lang="en-US" sz="14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github.com/StockDev136/SWE_Final_Project_HPCRMS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926080"/>
            <a:ext cx="7315200" cy="7315200"/>
          </a:xfrm>
          <a:prstGeom prst="ellipse">
            <a:avLst/>
          </a:prstGeom>
          <a:solidFill>
            <a:srgbClr val="0B1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0" y="4389120"/>
            <a:ext cx="6400800" cy="6400800"/>
          </a:xfrm>
          <a:prstGeom prst="ellipse">
            <a:avLst/>
          </a:prstGeom>
          <a:solidFill>
            <a:srgbClr val="0B1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566928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244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1554480" y="1051560"/>
            <a:ext cx="907999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 traditional vehicle rental operations into a seamless digital experience — minimizing customer wait times, automating rental processes, and providing fast, secure, and convenient access to vehicles.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2194560" y="3703320"/>
            <a:ext cx="7799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1400" i="1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will improve operational efficiency, maximize fleet utilization, and deliver a superior customer experience across all rental locations.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2376" y="470916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0B1B33"/>
          </a:solidFill>
          <a:ln w="12700">
            <a:solidFill>
              <a:srgbClr val="3A55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22376" y="48006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5166360"/>
            <a:ext cx="2258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Wait Times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65576" y="470916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0B1B33"/>
          </a:solidFill>
          <a:ln w="12700">
            <a:solidFill>
              <a:srgbClr val="3A55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65576" y="48006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93592" y="5166360"/>
            <a:ext cx="2258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Rental Processes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08776" y="470916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0B1B33"/>
          </a:solidFill>
          <a:ln w="12700">
            <a:solidFill>
              <a:srgbClr val="3A55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08776" y="48006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36792" y="5166360"/>
            <a:ext cx="2258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Secure Access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51976" y="470916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0B1B33"/>
          </a:solidFill>
          <a:ln w="12700">
            <a:solidFill>
              <a:srgbClr val="3A55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951976" y="48006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079992" y="5166360"/>
            <a:ext cx="2258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Fleet Utilization</a:t>
            </a:r>
            <a:endParaRPr lang="en-US" sz="1050" dirty="0"/>
          </a:p>
        </p:txBody>
      </p:sp>
      <p:pic>
        <p:nvPicPr>
          <p:cNvPr id="20" name="Image 0" descr="assets/logo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436" y="608076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41148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1554480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CFE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325880" y="1554480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50" dirty="0"/>
          </a:p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car rental counters fall short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40080" y="2212848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CFE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25880" y="2212848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450" dirty="0"/>
          </a:p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HPCRMS delivers, end to end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40080" y="2871216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CFE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325880" y="2871216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450" dirty="0"/>
          </a:p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capabilities that define the platform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3529584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CFE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325880" y="3529584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 Model</a:t>
            </a:r>
            <a:endParaRPr lang="en-US" sz="1450" dirty="0"/>
          </a:p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customers and staff interact with the system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263640" y="1554480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CFE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949440" y="1554480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50" dirty="0"/>
          </a:p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technical foundation — React + Spring Boot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263640" y="2212848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CFE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949440" y="2212848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Diagrams</a:t>
            </a:r>
            <a:endParaRPr lang="en-US" sz="1450" dirty="0"/>
          </a:p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Reservation, Check-In, and Payment traced step by step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263640" y="2871216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CFE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6949440" y="2871216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&amp; VOPC</a:t>
            </a:r>
            <a:endParaRPr lang="en-US" sz="1450" dirty="0"/>
          </a:p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collaborations and participating classes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6263640" y="3529584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CFE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6949440" y="3529584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450" dirty="0"/>
          </a:p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documentation to a working system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Renting a car still feels stuck in the past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78608" cy="416052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09344" y="2011680"/>
            <a:ext cx="640080" cy="640080"/>
          </a:xfrm>
          <a:prstGeom prst="ellipse">
            <a:avLst/>
          </a:prstGeom>
          <a:solidFill>
            <a:srgbClr val="12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09344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41248" y="283464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counter wait times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41248" y="3566160"/>
            <a:ext cx="21762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paperwork and in-person ID checks slow every pickup, even for returning customers.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0" y="1691640"/>
            <a:ext cx="2578608" cy="416052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43984" y="2011680"/>
            <a:ext cx="640080" cy="640080"/>
          </a:xfrm>
          <a:prstGeom prst="ellipse">
            <a:avLst/>
          </a:prstGeom>
          <a:solidFill>
            <a:srgbClr val="12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43984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75888" y="283464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675888" y="3566160"/>
            <a:ext cx="21762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availability isn't synchronized across branches, leading to overbooking and lost reservations.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1691640"/>
            <a:ext cx="2578608" cy="416052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278624" y="2011680"/>
            <a:ext cx="640080" cy="640080"/>
          </a:xfrm>
          <a:prstGeom prst="ellipse">
            <a:avLst/>
          </a:prstGeom>
          <a:solidFill>
            <a:srgbClr val="12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278624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10528" y="283464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Paper-heavy processes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10528" y="3566160"/>
            <a:ext cx="21762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agreements, inspections, and payments are still handled on paper or disconnected tools.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44000" y="1691640"/>
            <a:ext cx="2578608" cy="416052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113264" y="2011680"/>
            <a:ext cx="640080" cy="640080"/>
          </a:xfrm>
          <a:prstGeom prst="ellipse">
            <a:avLst/>
          </a:prstGeom>
          <a:solidFill>
            <a:srgbClr val="12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113264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345168" y="283464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fleet oversight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345168" y="3566160"/>
            <a:ext cx="21762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schedules and utilization data live in spreadsheets, not a single source of truth.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HPCRMS: one platform for the entire rental lifecycle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 Priority Car Rental Management System digitizes reservation, identity verification, digital check-in, payment, pickup, return, and fleet operations — replacing manual counter processes with a fast, self-service experience backed by a real-time, centralized platform.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5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2 sec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43616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search response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931920" y="37947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5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5 sec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931920" y="43616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confirmation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49377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5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1,000+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55046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users supported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931920" y="49377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5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931920" y="55046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availability target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52360" y="1463040"/>
            <a:ext cx="4114800" cy="4846320"/>
          </a:xfrm>
          <a:prstGeom prst="roundRect">
            <a:avLst>
              <a:gd name="adj" fmla="val 2222"/>
            </a:avLst>
          </a:prstGeom>
          <a:solidFill>
            <a:srgbClr val="122A4D"/>
          </a:solidFill>
          <a:ln/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772400" y="1949196"/>
            <a:ext cx="292608" cy="29260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0" y="19491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0" y="1737360"/>
            <a:ext cx="310896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Verify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772400" y="2665476"/>
            <a:ext cx="292608" cy="29260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0" y="26654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2453640"/>
            <a:ext cx="310896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Reserve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772400" y="3381756"/>
            <a:ext cx="292608" cy="29260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0" y="33817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0" y="3169920"/>
            <a:ext cx="310896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Check-In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772400" y="4098036"/>
            <a:ext cx="292608" cy="29260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0" y="40980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0" y="3886200"/>
            <a:ext cx="310896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Securely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772400" y="4814316"/>
            <a:ext cx="292608" cy="29260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0" y="48143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0" y="4602480"/>
            <a:ext cx="310896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Pickup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772400" y="5530596"/>
            <a:ext cx="292608" cy="29260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772400" y="55305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0" y="5318760"/>
            <a:ext cx="310896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&amp; Inspect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a modern rental experience needs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0848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16736" y="1801368"/>
            <a:ext cx="731520" cy="7315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8096" y="2587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Accounts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8096" y="29352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login, and profile &amp; rental history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71216" y="1600200"/>
            <a:ext cx="20848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547872" y="1801368"/>
            <a:ext cx="731520" cy="731520"/>
          </a:xfrm>
          <a:prstGeom prst="ellipse">
            <a:avLst/>
          </a:prstGeom>
          <a:solidFill>
            <a:srgbClr val="12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99232" y="2587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Reserve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99232" y="29352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cross-branch availability search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102352" y="1600200"/>
            <a:ext cx="20848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779008" y="1801368"/>
            <a:ext cx="731520" cy="731520"/>
          </a:xfrm>
          <a:prstGeom prst="ellipse">
            <a:avLst/>
          </a:prstGeom>
          <a:solidFill>
            <a:srgbClr val="12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30368" y="2587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Verification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30368" y="29352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driver's-license &amp; selfie validation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33488" y="1600200"/>
            <a:ext cx="20848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10144" y="1801368"/>
            <a:ext cx="731520" cy="7315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61504" y="2587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Check-In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61504" y="29352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Paperless rental agreement with e-signature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564624" y="1600200"/>
            <a:ext cx="20848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241280" y="1801368"/>
            <a:ext cx="731520" cy="731520"/>
          </a:xfrm>
          <a:prstGeom prst="ellipse">
            <a:avLst/>
          </a:prstGeom>
          <a:solidFill>
            <a:srgbClr val="12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692640" y="2587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Payment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92640" y="29352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payments, receipts, and refunds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3794760"/>
            <a:ext cx="20848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316736" y="3995928"/>
            <a:ext cx="731520" cy="731520"/>
          </a:xfrm>
          <a:prstGeom prst="ellipse">
            <a:avLst/>
          </a:prstGeom>
          <a:solidFill>
            <a:srgbClr val="12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68096" y="47823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Pickup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8096" y="512978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counter with a scannable pickup code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871216" y="3794760"/>
            <a:ext cx="20848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547872" y="3995928"/>
            <a:ext cx="731520" cy="7315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999232" y="47823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&amp; Inspection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999232" y="512978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Digitized condition, mileage &amp; damage capture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102352" y="3794760"/>
            <a:ext cx="20848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779008" y="3995928"/>
            <a:ext cx="731520" cy="731520"/>
          </a:xfrm>
          <a:prstGeom prst="ellipse">
            <a:avLst/>
          </a:prstGeom>
          <a:solidFill>
            <a:srgbClr val="12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230368" y="47823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Management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30368" y="512978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vehicle assignment &amp; maintenance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333488" y="3794760"/>
            <a:ext cx="20848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010144" y="3995928"/>
            <a:ext cx="731520" cy="731520"/>
          </a:xfrm>
          <a:prstGeom prst="ellipse">
            <a:avLst/>
          </a:prstGeom>
          <a:solidFill>
            <a:srgbClr val="12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461504" y="47823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461504" y="512978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Utilization, revenue, and demand forecasting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564624" y="3794760"/>
            <a:ext cx="20848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0241280" y="3995928"/>
            <a:ext cx="731520" cy="7315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692640" y="47823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Security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692640" y="512978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MFA, and end-to-end encryption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customer rental lifecycle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registration through reservation, identity verification, digital check-in, payment, pickup, return, and notifications — modeled from the project's SRS.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863453" y="1719072"/>
            <a:ext cx="6462046" cy="4654296"/>
          </a:xfrm>
          <a:prstGeom prst="roundRect">
            <a:avLst>
              <a:gd name="adj" fmla="val 1179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usecase_custom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181" y="1828800"/>
            <a:ext cx="6242590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Fleet, administration &amp; reporting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Staff-facing use cases covering vehicle inventory, maintenance scheduling, reporting/analytics, and role-based user administration.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8244" y="1719072"/>
            <a:ext cx="6692463" cy="4654296"/>
          </a:xfrm>
          <a:prstGeom prst="roundRect">
            <a:avLst>
              <a:gd name="adj" fmla="val 1179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usecase_sta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972" y="1828800"/>
            <a:ext cx="6473007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layered client–server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React + TypeScript + Tailwind single-page application talks to a layered Spring Boot REST API (Controller / Business / Repository, with Spring Security and Hibernate ORM), backed by a centralized database and third-party services.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808510" y="1764792"/>
            <a:ext cx="8571933" cy="4425696"/>
          </a:xfrm>
          <a:prstGeom prst="roundRect">
            <a:avLst>
              <a:gd name="adj" fmla="val 1240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8238" y="1874520"/>
            <a:ext cx="8352477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5486400" cy="5486400"/>
          </a:xfrm>
          <a:prstGeom prst="ellipse">
            <a:avLst/>
          </a:prstGeom>
          <a:solidFill>
            <a:srgbClr val="0B1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a modern, proven foundation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0B1B33"/>
          </a:solidFill>
          <a:ln w="12700">
            <a:solidFill>
              <a:srgbClr val="244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21284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276148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application, Tailwind CSS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0B1B33"/>
          </a:solidFill>
          <a:ln w="12700">
            <a:solidFill>
              <a:srgbClr val="244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26280" y="19202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26280" y="221284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526280" y="276148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REST API — Controller / Service / Repository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55280" y="17373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0B1B33"/>
          </a:solidFill>
          <a:ln w="12700">
            <a:solidFill>
              <a:srgbClr val="244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183880" y="19202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183880" y="221284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183880" y="276148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RBAC, dependency injection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9776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0B1B33"/>
          </a:solidFill>
          <a:ln w="12700">
            <a:solidFill>
              <a:srgbClr val="244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41605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8680" y="44531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ORM / DAO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68680" y="500176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layer over the database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97680" y="39776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0B1B33"/>
          </a:solidFill>
          <a:ln w="12700">
            <a:solidFill>
              <a:srgbClr val="244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26280" y="41605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26280" y="44531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HPCRMS Database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526280" y="500176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relational store, real-time sync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955280" y="39776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0B1B33"/>
          </a:solidFill>
          <a:ln w="12700">
            <a:solidFill>
              <a:srgbClr val="244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183880" y="41605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183880" y="44531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Payment, Notification, License Services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183880" y="500176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from the Business layer only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Tracing a use case: Reservation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boundary, control, entity, and database classes collaborate to search availability and create a reservation — the same Boundary/Control/Entity pattern used throughout the analysis.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944368" y="1719072"/>
            <a:ext cx="6300216" cy="4562856"/>
          </a:xfrm>
          <a:prstGeom prst="roundRect">
            <a:avLst>
              <a:gd name="adj" fmla="val 1202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seq_reserv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4096" y="1828800"/>
            <a:ext cx="6080760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Tracing a use case: Check-In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check-in coordinates identity verification through the external License Verification Service, generates the rental agreement, and persists the signed contract.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077547" y="1719072"/>
            <a:ext cx="6033858" cy="4562856"/>
          </a:xfrm>
          <a:prstGeom prst="roundRect">
            <a:avLst>
              <a:gd name="adj" fmla="val 1202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seq_check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7275" y="1828800"/>
            <a:ext cx="5814402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Tracing a use case: Payment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processing calculates charges from the reservation, creates a payment record, and coordinates with the external Payment Service before persisting the result.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999530" y="1719072"/>
            <a:ext cx="6189893" cy="4562856"/>
          </a:xfrm>
          <a:prstGeom prst="roundRect">
            <a:avLst>
              <a:gd name="adj" fmla="val 1202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seq_pay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9258" y="1828800"/>
            <a:ext cx="5970437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DIAGRAMS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Reservation: object collaborations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Reservation interaction shown as a network of linked objects, with numbered messages along each link in place of a vertical time axis.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654286" y="1719072"/>
            <a:ext cx="6880380" cy="4151376"/>
          </a:xfrm>
          <a:prstGeom prst="roundRect">
            <a:avLst>
              <a:gd name="adj" fmla="val 1322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collab_reserv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4014" y="1828800"/>
            <a:ext cx="6660924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DIAGRAMS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Check-In: object collaborations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CheckInController coordinates with the external License Verification Service, the Reservation and RentalAgreement objects, and the HPCRMSDB, mirroring the check-in sequence diagram.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903715" y="1719072"/>
            <a:ext cx="6381521" cy="4562856"/>
          </a:xfrm>
          <a:prstGeom prst="roundRect">
            <a:avLst>
              <a:gd name="adj" fmla="val 1202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collab_check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443" y="1828800"/>
            <a:ext cx="6162065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DIAGRAMS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Payment: object collaborations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PaymentController links to the external Payment Service, the Payment and Reservation objects, and the HPCRMS database to complete a transaction.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027999" y="1719072"/>
            <a:ext cx="6132955" cy="4562856"/>
          </a:xfrm>
          <a:prstGeom prst="roundRect">
            <a:avLst>
              <a:gd name="adj" fmla="val 1202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collab_pay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7727" y="1828800"/>
            <a:ext cx="5913499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VOPC DIAGRAMS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Reservation: participating classes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View of Participating Classes for the Reservation use case — ReservationController, Vehicle, Reservation, and HPCRMSDB — with their key attributes and operations.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544318" y="1719072"/>
            <a:ext cx="7100316" cy="4151376"/>
          </a:xfrm>
          <a:prstGeom prst="roundRect">
            <a:avLst>
              <a:gd name="adj" fmla="val 1322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vopc_reserv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046" y="1828800"/>
            <a:ext cx="6880860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VOPC DIAGRAMS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Check-In: participating classes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View of Participating Classes for Check-In — CheckInController, LicenseVerificationService, Reservation, RentalAgreement, and HPCRMSDB.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074195" y="1719072"/>
            <a:ext cx="6040562" cy="4562856"/>
          </a:xfrm>
          <a:prstGeom prst="roundRect">
            <a:avLst>
              <a:gd name="adj" fmla="val 1202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vopc_check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3923" y="1828800"/>
            <a:ext cx="5821106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VOPC DIAGRAMS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Payment: participating classes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View of Participating Classes for Payment — PaymentController, PaymentService, Payment, Reservation, and HPCRMS.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28530" y="1719072"/>
            <a:ext cx="6731891" cy="4562856"/>
          </a:xfrm>
          <a:prstGeom prst="roundRect">
            <a:avLst>
              <a:gd name="adj" fmla="val 1202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vopc_pay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258" y="1828800"/>
            <a:ext cx="6512435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0">
            <a:extLst>
              <a:ext uri="{FF2B5EF4-FFF2-40B4-BE49-F238E27FC236}">
                <a16:creationId xmlns:a16="http://schemas.microsoft.com/office/drawing/2014/main" id="{794FA355-42FB-DCC9-339F-E29F59D0E670}"/>
              </a:ext>
            </a:extLst>
          </p:cNvPr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40" name="Text 1">
            <a:extLst>
              <a:ext uri="{FF2B5EF4-FFF2-40B4-BE49-F238E27FC236}">
                <a16:creationId xmlns:a16="http://schemas.microsoft.com/office/drawing/2014/main" id="{58ED3625-ED25-DFCF-0817-3023A18D53D6}"/>
              </a:ext>
            </a:extLst>
          </p:cNvPr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Real, automated coverage — not a checkbox</a:t>
            </a:r>
            <a:endParaRPr lang="en-US" sz="2800" dirty="0"/>
          </a:p>
        </p:txBody>
      </p:sp>
      <p:sp>
        <p:nvSpPr>
          <p:cNvPr id="42" name="Shape 2">
            <a:extLst>
              <a:ext uri="{FF2B5EF4-FFF2-40B4-BE49-F238E27FC236}">
                <a16:creationId xmlns:a16="http://schemas.microsoft.com/office/drawing/2014/main" id="{1769FF86-C68D-0C77-D43B-997FDB089728}"/>
              </a:ext>
            </a:extLst>
          </p:cNvPr>
          <p:cNvSpPr/>
          <p:nvPr/>
        </p:nvSpPr>
        <p:spPr>
          <a:xfrm>
            <a:off x="640080" y="1691640"/>
            <a:ext cx="2578608" cy="416052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3">
            <a:extLst>
              <a:ext uri="{FF2B5EF4-FFF2-40B4-BE49-F238E27FC236}">
                <a16:creationId xmlns:a16="http://schemas.microsoft.com/office/drawing/2014/main" id="{34DEECFE-1555-72BD-7569-A8CC24D5895C}"/>
              </a:ext>
            </a:extLst>
          </p:cNvPr>
          <p:cNvSpPr/>
          <p:nvPr/>
        </p:nvSpPr>
        <p:spPr>
          <a:xfrm>
            <a:off x="1609344" y="2011680"/>
            <a:ext cx="640080" cy="640080"/>
          </a:xfrm>
          <a:prstGeom prst="ellipse">
            <a:avLst/>
          </a:prstGeom>
          <a:solidFill>
            <a:srgbClr val="12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">
            <a:extLst>
              <a:ext uri="{FF2B5EF4-FFF2-40B4-BE49-F238E27FC236}">
                <a16:creationId xmlns:a16="http://schemas.microsoft.com/office/drawing/2014/main" id="{0832B76F-5983-B8FE-F432-4640404D7865}"/>
              </a:ext>
            </a:extLst>
          </p:cNvPr>
          <p:cNvSpPr/>
          <p:nvPr/>
        </p:nvSpPr>
        <p:spPr>
          <a:xfrm>
            <a:off x="1609344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8" name="Text 5">
            <a:extLst>
              <a:ext uri="{FF2B5EF4-FFF2-40B4-BE49-F238E27FC236}">
                <a16:creationId xmlns:a16="http://schemas.microsoft.com/office/drawing/2014/main" id="{941BD493-C536-829E-D97F-8ED0F23DA90B}"/>
              </a:ext>
            </a:extLst>
          </p:cNvPr>
          <p:cNvSpPr/>
          <p:nvPr/>
        </p:nvSpPr>
        <p:spPr>
          <a:xfrm>
            <a:off x="841248" y="283464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Test Methods</a:t>
            </a:r>
            <a:endParaRPr lang="en-US" sz="1450" dirty="0"/>
          </a:p>
        </p:txBody>
      </p:sp>
      <p:sp>
        <p:nvSpPr>
          <p:cNvPr id="50" name="Text 6">
            <a:extLst>
              <a:ext uri="{FF2B5EF4-FFF2-40B4-BE49-F238E27FC236}">
                <a16:creationId xmlns:a16="http://schemas.microsoft.com/office/drawing/2014/main" id="{AF2D561C-41F2-D00D-F7BF-BF992B930117}"/>
              </a:ext>
            </a:extLst>
          </p:cNvPr>
          <p:cNvSpPr/>
          <p:nvPr/>
        </p:nvSpPr>
        <p:spPr>
          <a:xfrm>
            <a:off x="841248" y="3566160"/>
            <a:ext cx="21762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+ Mockito across the three most critical use cases</a:t>
            </a:r>
            <a:endParaRPr lang="en-US" sz="1150" dirty="0"/>
          </a:p>
        </p:txBody>
      </p:sp>
      <p:sp>
        <p:nvSpPr>
          <p:cNvPr id="52" name="Shape 7">
            <a:extLst>
              <a:ext uri="{FF2B5EF4-FFF2-40B4-BE49-F238E27FC236}">
                <a16:creationId xmlns:a16="http://schemas.microsoft.com/office/drawing/2014/main" id="{EB759DFE-33E1-F8E1-96F9-AF559E57E81C}"/>
              </a:ext>
            </a:extLst>
          </p:cNvPr>
          <p:cNvSpPr/>
          <p:nvPr/>
        </p:nvSpPr>
        <p:spPr>
          <a:xfrm>
            <a:off x="3474720" y="1691640"/>
            <a:ext cx="2578608" cy="416052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8">
            <a:extLst>
              <a:ext uri="{FF2B5EF4-FFF2-40B4-BE49-F238E27FC236}">
                <a16:creationId xmlns:a16="http://schemas.microsoft.com/office/drawing/2014/main" id="{DA0BA860-0393-ED9A-B409-E8B5405EE476}"/>
              </a:ext>
            </a:extLst>
          </p:cNvPr>
          <p:cNvSpPr/>
          <p:nvPr/>
        </p:nvSpPr>
        <p:spPr>
          <a:xfrm>
            <a:off x="4443984" y="2011680"/>
            <a:ext cx="640080" cy="640080"/>
          </a:xfrm>
          <a:prstGeom prst="ellipse">
            <a:avLst/>
          </a:prstGeom>
          <a:solidFill>
            <a:srgbClr val="12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9">
            <a:extLst>
              <a:ext uri="{FF2B5EF4-FFF2-40B4-BE49-F238E27FC236}">
                <a16:creationId xmlns:a16="http://schemas.microsoft.com/office/drawing/2014/main" id="{4057706E-BF4B-FC5D-84F3-190D93042A8F}"/>
              </a:ext>
            </a:extLst>
          </p:cNvPr>
          <p:cNvSpPr/>
          <p:nvPr/>
        </p:nvSpPr>
        <p:spPr>
          <a:xfrm>
            <a:off x="4443984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872E90F-4779-C74F-C090-4E0CA3A966BB}"/>
              </a:ext>
            </a:extLst>
          </p:cNvPr>
          <p:cNvSpPr/>
          <p:nvPr/>
        </p:nvSpPr>
        <p:spPr>
          <a:xfrm>
            <a:off x="3675888" y="283464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Normal, Boundary &amp; Error</a:t>
            </a:r>
            <a:endParaRPr lang="en-US" sz="1450" dirty="0"/>
          </a:p>
        </p:txBody>
      </p:sp>
      <p:sp>
        <p:nvSpPr>
          <p:cNvPr id="60" name="Text 11">
            <a:extLst>
              <a:ext uri="{FF2B5EF4-FFF2-40B4-BE49-F238E27FC236}">
                <a16:creationId xmlns:a16="http://schemas.microsoft.com/office/drawing/2014/main" id="{ED9DB790-5930-607E-B803-A64A4A36704D}"/>
              </a:ext>
            </a:extLst>
          </p:cNvPr>
          <p:cNvSpPr/>
          <p:nvPr/>
        </p:nvSpPr>
        <p:spPr>
          <a:xfrm>
            <a:off x="3675888" y="3566160"/>
            <a:ext cx="21762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test class covers all three case types, not just the happy path</a:t>
            </a:r>
            <a:endParaRPr lang="en-US" sz="1150" dirty="0"/>
          </a:p>
        </p:txBody>
      </p:sp>
      <p:sp>
        <p:nvSpPr>
          <p:cNvPr id="62" name="Shape 12">
            <a:extLst>
              <a:ext uri="{FF2B5EF4-FFF2-40B4-BE49-F238E27FC236}">
                <a16:creationId xmlns:a16="http://schemas.microsoft.com/office/drawing/2014/main" id="{FE96D5C1-BAEC-6A15-FDCF-23BA18984FB9}"/>
              </a:ext>
            </a:extLst>
          </p:cNvPr>
          <p:cNvSpPr/>
          <p:nvPr/>
        </p:nvSpPr>
        <p:spPr>
          <a:xfrm>
            <a:off x="6309360" y="1691640"/>
            <a:ext cx="2578608" cy="416052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Shape 13">
            <a:extLst>
              <a:ext uri="{FF2B5EF4-FFF2-40B4-BE49-F238E27FC236}">
                <a16:creationId xmlns:a16="http://schemas.microsoft.com/office/drawing/2014/main" id="{C21311AE-E251-443A-0173-6364FD058D23}"/>
              </a:ext>
            </a:extLst>
          </p:cNvPr>
          <p:cNvSpPr/>
          <p:nvPr/>
        </p:nvSpPr>
        <p:spPr>
          <a:xfrm>
            <a:off x="7278624" y="2011680"/>
            <a:ext cx="640080" cy="640080"/>
          </a:xfrm>
          <a:prstGeom prst="ellipse">
            <a:avLst/>
          </a:prstGeom>
          <a:solidFill>
            <a:srgbClr val="12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14">
            <a:extLst>
              <a:ext uri="{FF2B5EF4-FFF2-40B4-BE49-F238E27FC236}">
                <a16:creationId xmlns:a16="http://schemas.microsoft.com/office/drawing/2014/main" id="{5F0D16F4-D8E5-D6BD-2402-345FE2F2AAC6}"/>
              </a:ext>
            </a:extLst>
          </p:cNvPr>
          <p:cNvSpPr/>
          <p:nvPr/>
        </p:nvSpPr>
        <p:spPr>
          <a:xfrm>
            <a:off x="7278624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68" name="Text 15">
            <a:extLst>
              <a:ext uri="{FF2B5EF4-FFF2-40B4-BE49-F238E27FC236}">
                <a16:creationId xmlns:a16="http://schemas.microsoft.com/office/drawing/2014/main" id="{B4D0BA5B-EE68-5E81-CD2A-7856DE17BB90}"/>
              </a:ext>
            </a:extLst>
          </p:cNvPr>
          <p:cNvSpPr/>
          <p:nvPr/>
        </p:nvSpPr>
        <p:spPr>
          <a:xfrm>
            <a:off x="6510528" y="283464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Business Logic</a:t>
            </a:r>
            <a:endParaRPr lang="en-US" sz="1450" dirty="0"/>
          </a:p>
        </p:txBody>
      </p:sp>
      <p:sp>
        <p:nvSpPr>
          <p:cNvPr id="70" name="Text 16">
            <a:extLst>
              <a:ext uri="{FF2B5EF4-FFF2-40B4-BE49-F238E27FC236}">
                <a16:creationId xmlns:a16="http://schemas.microsoft.com/office/drawing/2014/main" id="{CF2D4581-04F0-1E24-A046-6F2E4B1FDAE0}"/>
              </a:ext>
            </a:extLst>
          </p:cNvPr>
          <p:cNvSpPr/>
          <p:nvPr/>
        </p:nvSpPr>
        <p:spPr>
          <a:xfrm>
            <a:off x="6510528" y="3566160"/>
            <a:ext cx="21762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detection, same-day rentals, minimum age, license expiration</a:t>
            </a:r>
            <a:endParaRPr lang="en-US" sz="1150" dirty="0"/>
          </a:p>
        </p:txBody>
      </p:sp>
      <p:sp>
        <p:nvSpPr>
          <p:cNvPr id="72" name="Shape 17">
            <a:extLst>
              <a:ext uri="{FF2B5EF4-FFF2-40B4-BE49-F238E27FC236}">
                <a16:creationId xmlns:a16="http://schemas.microsoft.com/office/drawing/2014/main" id="{041FA011-D426-D22B-9B9D-E37AAF1FD855}"/>
              </a:ext>
            </a:extLst>
          </p:cNvPr>
          <p:cNvSpPr/>
          <p:nvPr/>
        </p:nvSpPr>
        <p:spPr>
          <a:xfrm>
            <a:off x="9144000" y="1691640"/>
            <a:ext cx="2578608" cy="416052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4" name="Shape 18">
            <a:extLst>
              <a:ext uri="{FF2B5EF4-FFF2-40B4-BE49-F238E27FC236}">
                <a16:creationId xmlns:a16="http://schemas.microsoft.com/office/drawing/2014/main" id="{81269ED9-46BE-12C4-A55D-7B5EF57BABDD}"/>
              </a:ext>
            </a:extLst>
          </p:cNvPr>
          <p:cNvSpPr/>
          <p:nvPr/>
        </p:nvSpPr>
        <p:spPr>
          <a:xfrm>
            <a:off x="10113264" y="2011680"/>
            <a:ext cx="640080" cy="640080"/>
          </a:xfrm>
          <a:prstGeom prst="ellipse">
            <a:avLst/>
          </a:prstGeom>
          <a:solidFill>
            <a:srgbClr val="12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19">
            <a:extLst>
              <a:ext uri="{FF2B5EF4-FFF2-40B4-BE49-F238E27FC236}">
                <a16:creationId xmlns:a16="http://schemas.microsoft.com/office/drawing/2014/main" id="{5218E074-93FA-3116-88CF-E96F0388FC8B}"/>
              </a:ext>
            </a:extLst>
          </p:cNvPr>
          <p:cNvSpPr/>
          <p:nvPr/>
        </p:nvSpPr>
        <p:spPr>
          <a:xfrm>
            <a:off x="10113264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78" name="Text 20">
            <a:extLst>
              <a:ext uri="{FF2B5EF4-FFF2-40B4-BE49-F238E27FC236}">
                <a16:creationId xmlns:a16="http://schemas.microsoft.com/office/drawing/2014/main" id="{7F094837-21F6-27D4-2074-B8B4F1D866C2}"/>
              </a:ext>
            </a:extLst>
          </p:cNvPr>
          <p:cNvSpPr/>
          <p:nvPr/>
        </p:nvSpPr>
        <p:spPr>
          <a:xfrm>
            <a:off x="9345168" y="283464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Isolated</a:t>
            </a:r>
            <a:endParaRPr lang="en-US" sz="1450" dirty="0"/>
          </a:p>
        </p:txBody>
      </p:sp>
      <p:sp>
        <p:nvSpPr>
          <p:cNvPr id="80" name="Text 21">
            <a:extLst>
              <a:ext uri="{FF2B5EF4-FFF2-40B4-BE49-F238E27FC236}">
                <a16:creationId xmlns:a16="http://schemas.microsoft.com/office/drawing/2014/main" id="{D4E002DD-2D36-31A1-FF8B-B7B1760D090B}"/>
              </a:ext>
            </a:extLst>
          </p:cNvPr>
          <p:cNvSpPr/>
          <p:nvPr/>
        </p:nvSpPr>
        <p:spPr>
          <a:xfrm>
            <a:off x="9345168" y="3566160"/>
            <a:ext cx="21762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Mocked repositories — no database or network, runs in seconds</a:t>
            </a:r>
            <a:endParaRPr lang="en-US" sz="1150" dirty="0"/>
          </a:p>
        </p:txBody>
      </p:sp>
      <p:sp>
        <p:nvSpPr>
          <p:cNvPr id="82" name="Text 22">
            <a:extLst>
              <a:ext uri="{FF2B5EF4-FFF2-40B4-BE49-F238E27FC236}">
                <a16:creationId xmlns:a16="http://schemas.microsoft.com/office/drawing/2014/main" id="{5F2BD328-E089-1DC6-ED8C-9583FA29F1A1}"/>
              </a:ext>
            </a:extLst>
          </p:cNvPr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3E022F-373B-A8F8-C006-601C01A58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0">
            <a:extLst>
              <a:ext uri="{FF2B5EF4-FFF2-40B4-BE49-F238E27FC236}">
                <a16:creationId xmlns:a16="http://schemas.microsoft.com/office/drawing/2014/main" id="{A04AD205-C3AF-BDC8-025C-A25CBC84F110}"/>
              </a:ext>
            </a:extLst>
          </p:cNvPr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86" name="Text 1">
            <a:extLst>
              <a:ext uri="{FF2B5EF4-FFF2-40B4-BE49-F238E27FC236}">
                <a16:creationId xmlns:a16="http://schemas.microsoft.com/office/drawing/2014/main" id="{54F55348-2FD6-FE82-D331-9A53A1AE5E70}"/>
              </a:ext>
            </a:extLst>
          </p:cNvPr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survive real scrutiny</a:t>
            </a:r>
            <a:endParaRPr lang="en-US" sz="2800" dirty="0"/>
          </a:p>
        </p:txBody>
      </p:sp>
      <p:sp>
        <p:nvSpPr>
          <p:cNvPr id="88" name="Shape 2">
            <a:extLst>
              <a:ext uri="{FF2B5EF4-FFF2-40B4-BE49-F238E27FC236}">
                <a16:creationId xmlns:a16="http://schemas.microsoft.com/office/drawing/2014/main" id="{F94163CD-2560-D0C1-BA9E-078E154DE972}"/>
              </a:ext>
            </a:extLst>
          </p:cNvPr>
          <p:cNvSpPr/>
          <p:nvPr/>
        </p:nvSpPr>
        <p:spPr>
          <a:xfrm>
            <a:off x="640080" y="1691640"/>
            <a:ext cx="2578608" cy="416052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0" name="Shape 3">
            <a:extLst>
              <a:ext uri="{FF2B5EF4-FFF2-40B4-BE49-F238E27FC236}">
                <a16:creationId xmlns:a16="http://schemas.microsoft.com/office/drawing/2014/main" id="{D09E7AFB-5AD2-879C-2833-1FA1FCE5F120}"/>
              </a:ext>
            </a:extLst>
          </p:cNvPr>
          <p:cNvSpPr/>
          <p:nvPr/>
        </p:nvSpPr>
        <p:spPr>
          <a:xfrm>
            <a:off x="1609344" y="2011680"/>
            <a:ext cx="640080" cy="640080"/>
          </a:xfrm>
          <a:prstGeom prst="ellipse">
            <a:avLst/>
          </a:prstGeom>
          <a:solidFill>
            <a:srgbClr val="12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4">
            <a:extLst>
              <a:ext uri="{FF2B5EF4-FFF2-40B4-BE49-F238E27FC236}">
                <a16:creationId xmlns:a16="http://schemas.microsoft.com/office/drawing/2014/main" id="{7BCABBE6-E7A1-A34B-FF30-AA7C911865C5}"/>
              </a:ext>
            </a:extLst>
          </p:cNvPr>
          <p:cNvSpPr/>
          <p:nvPr/>
        </p:nvSpPr>
        <p:spPr>
          <a:xfrm>
            <a:off x="1609344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4" name="Text 5">
            <a:extLst>
              <a:ext uri="{FF2B5EF4-FFF2-40B4-BE49-F238E27FC236}">
                <a16:creationId xmlns:a16="http://schemas.microsoft.com/office/drawing/2014/main" id="{99AA5965-317D-CC34-8A76-AB69A17DE286}"/>
              </a:ext>
            </a:extLst>
          </p:cNvPr>
          <p:cNvSpPr/>
          <p:nvPr/>
        </p:nvSpPr>
        <p:spPr>
          <a:xfrm>
            <a:off x="841248" y="283464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450" dirty="0"/>
          </a:p>
        </p:txBody>
      </p:sp>
      <p:sp>
        <p:nvSpPr>
          <p:cNvPr id="96" name="Text 6">
            <a:extLst>
              <a:ext uri="{FF2B5EF4-FFF2-40B4-BE49-F238E27FC236}">
                <a16:creationId xmlns:a16="http://schemas.microsoft.com/office/drawing/2014/main" id="{14201589-EA4D-1801-8317-7E8FEDB8F2B8}"/>
              </a:ext>
            </a:extLst>
          </p:cNvPr>
          <p:cNvSpPr/>
          <p:nvPr/>
        </p:nvSpPr>
        <p:spPr>
          <a:xfrm>
            <a:off x="841248" y="3566160"/>
            <a:ext cx="21762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Signed, expiring tokens — fully stateless session management</a:t>
            </a:r>
            <a:endParaRPr lang="en-US" sz="115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46392658-6B53-65FC-CBF0-B72E26F943FB}"/>
              </a:ext>
            </a:extLst>
          </p:cNvPr>
          <p:cNvSpPr/>
          <p:nvPr/>
        </p:nvSpPr>
        <p:spPr>
          <a:xfrm>
            <a:off x="3474720" y="1691640"/>
            <a:ext cx="2578608" cy="416052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0" name="Shape 8">
            <a:extLst>
              <a:ext uri="{FF2B5EF4-FFF2-40B4-BE49-F238E27FC236}">
                <a16:creationId xmlns:a16="http://schemas.microsoft.com/office/drawing/2014/main" id="{C27955B0-9903-ECCC-2F30-42A1AC0B8CF2}"/>
              </a:ext>
            </a:extLst>
          </p:cNvPr>
          <p:cNvSpPr/>
          <p:nvPr/>
        </p:nvSpPr>
        <p:spPr>
          <a:xfrm>
            <a:off x="4443984" y="2011680"/>
            <a:ext cx="640080" cy="640080"/>
          </a:xfrm>
          <a:prstGeom prst="ellipse">
            <a:avLst/>
          </a:prstGeom>
          <a:solidFill>
            <a:srgbClr val="12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9">
            <a:extLst>
              <a:ext uri="{FF2B5EF4-FFF2-40B4-BE49-F238E27FC236}">
                <a16:creationId xmlns:a16="http://schemas.microsoft.com/office/drawing/2014/main" id="{A9827847-5F03-95F9-1591-C3093BAC639B}"/>
              </a:ext>
            </a:extLst>
          </p:cNvPr>
          <p:cNvSpPr/>
          <p:nvPr/>
        </p:nvSpPr>
        <p:spPr>
          <a:xfrm>
            <a:off x="4443984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4" name="Text 10">
            <a:extLst>
              <a:ext uri="{FF2B5EF4-FFF2-40B4-BE49-F238E27FC236}">
                <a16:creationId xmlns:a16="http://schemas.microsoft.com/office/drawing/2014/main" id="{1BCAAC08-748D-EBA8-E4E6-3C6D609A062C}"/>
              </a:ext>
            </a:extLst>
          </p:cNvPr>
          <p:cNvSpPr/>
          <p:nvPr/>
        </p:nvSpPr>
        <p:spPr>
          <a:xfrm>
            <a:off x="3675888" y="283464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450" dirty="0"/>
          </a:p>
        </p:txBody>
      </p:sp>
      <p:sp>
        <p:nvSpPr>
          <p:cNvPr id="106" name="Text 11">
            <a:extLst>
              <a:ext uri="{FF2B5EF4-FFF2-40B4-BE49-F238E27FC236}">
                <a16:creationId xmlns:a16="http://schemas.microsoft.com/office/drawing/2014/main" id="{DECD174F-3BC6-9D29-833B-75A0398522D2}"/>
              </a:ext>
            </a:extLst>
          </p:cNvPr>
          <p:cNvSpPr/>
          <p:nvPr/>
        </p:nvSpPr>
        <p:spPr>
          <a:xfrm>
            <a:off x="3675888" y="3566160"/>
            <a:ext cx="21762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are never stored or logged in plaintext</a:t>
            </a:r>
            <a:endParaRPr lang="en-US" sz="1150" dirty="0"/>
          </a:p>
        </p:txBody>
      </p:sp>
      <p:sp>
        <p:nvSpPr>
          <p:cNvPr id="108" name="Shape 12">
            <a:extLst>
              <a:ext uri="{FF2B5EF4-FFF2-40B4-BE49-F238E27FC236}">
                <a16:creationId xmlns:a16="http://schemas.microsoft.com/office/drawing/2014/main" id="{7FBD68D3-0596-973B-C851-6074BCBB39A5}"/>
              </a:ext>
            </a:extLst>
          </p:cNvPr>
          <p:cNvSpPr/>
          <p:nvPr/>
        </p:nvSpPr>
        <p:spPr>
          <a:xfrm>
            <a:off x="6309360" y="1691640"/>
            <a:ext cx="2578608" cy="416052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0" name="Shape 13">
            <a:extLst>
              <a:ext uri="{FF2B5EF4-FFF2-40B4-BE49-F238E27FC236}">
                <a16:creationId xmlns:a16="http://schemas.microsoft.com/office/drawing/2014/main" id="{C0319177-1BB0-7574-EB6E-385374F2D4B6}"/>
              </a:ext>
            </a:extLst>
          </p:cNvPr>
          <p:cNvSpPr/>
          <p:nvPr/>
        </p:nvSpPr>
        <p:spPr>
          <a:xfrm>
            <a:off x="7278624" y="2011680"/>
            <a:ext cx="640080" cy="640080"/>
          </a:xfrm>
          <a:prstGeom prst="ellipse">
            <a:avLst/>
          </a:prstGeom>
          <a:solidFill>
            <a:srgbClr val="12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Text 14">
            <a:extLst>
              <a:ext uri="{FF2B5EF4-FFF2-40B4-BE49-F238E27FC236}">
                <a16:creationId xmlns:a16="http://schemas.microsoft.com/office/drawing/2014/main" id="{BAA73843-FB83-7F0B-5315-3A3D8DD0D8D4}"/>
              </a:ext>
            </a:extLst>
          </p:cNvPr>
          <p:cNvSpPr/>
          <p:nvPr/>
        </p:nvSpPr>
        <p:spPr>
          <a:xfrm>
            <a:off x="7278624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14" name="Text 15">
            <a:extLst>
              <a:ext uri="{FF2B5EF4-FFF2-40B4-BE49-F238E27FC236}">
                <a16:creationId xmlns:a16="http://schemas.microsoft.com/office/drawing/2014/main" id="{54F4F2BE-5812-E793-D71A-61CFBB6FB979}"/>
              </a:ext>
            </a:extLst>
          </p:cNvPr>
          <p:cNvSpPr/>
          <p:nvPr/>
        </p:nvSpPr>
        <p:spPr>
          <a:xfrm>
            <a:off x="6510528" y="283464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Server-Enforced Roles</a:t>
            </a:r>
            <a:endParaRPr lang="en-US" sz="1450" dirty="0"/>
          </a:p>
        </p:txBody>
      </p:sp>
      <p:sp>
        <p:nvSpPr>
          <p:cNvPr id="116" name="Text 16">
            <a:extLst>
              <a:ext uri="{FF2B5EF4-FFF2-40B4-BE49-F238E27FC236}">
                <a16:creationId xmlns:a16="http://schemas.microsoft.com/office/drawing/2014/main" id="{AB668BE6-9CF4-AF97-D615-924B08DD7760}"/>
              </a:ext>
            </a:extLst>
          </p:cNvPr>
          <p:cNvSpPr/>
          <p:nvPr/>
        </p:nvSpPr>
        <p:spPr>
          <a:xfrm>
            <a:off x="6510528" y="3566160"/>
            <a:ext cx="21762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checks run on the backend, not just hidden in the UI</a:t>
            </a:r>
            <a:endParaRPr lang="en-US" sz="1150" dirty="0"/>
          </a:p>
        </p:txBody>
      </p:sp>
      <p:sp>
        <p:nvSpPr>
          <p:cNvPr id="118" name="Shape 17">
            <a:extLst>
              <a:ext uri="{FF2B5EF4-FFF2-40B4-BE49-F238E27FC236}">
                <a16:creationId xmlns:a16="http://schemas.microsoft.com/office/drawing/2014/main" id="{42D7DEF0-5AB6-0F12-AC6E-500CF187DE78}"/>
              </a:ext>
            </a:extLst>
          </p:cNvPr>
          <p:cNvSpPr/>
          <p:nvPr/>
        </p:nvSpPr>
        <p:spPr>
          <a:xfrm>
            <a:off x="9144000" y="1691640"/>
            <a:ext cx="2578608" cy="416052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0" name="Shape 18">
            <a:extLst>
              <a:ext uri="{FF2B5EF4-FFF2-40B4-BE49-F238E27FC236}">
                <a16:creationId xmlns:a16="http://schemas.microsoft.com/office/drawing/2014/main" id="{8985BAC9-8CE8-CDC0-6641-7E91E3721FF1}"/>
              </a:ext>
            </a:extLst>
          </p:cNvPr>
          <p:cNvSpPr/>
          <p:nvPr/>
        </p:nvSpPr>
        <p:spPr>
          <a:xfrm>
            <a:off x="10113264" y="2011680"/>
            <a:ext cx="640080" cy="640080"/>
          </a:xfrm>
          <a:prstGeom prst="ellipse">
            <a:avLst/>
          </a:prstGeom>
          <a:solidFill>
            <a:srgbClr val="12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D719D18E-C6CF-C69E-8C95-C1F6DC252B94}"/>
              </a:ext>
            </a:extLst>
          </p:cNvPr>
          <p:cNvSpPr/>
          <p:nvPr/>
        </p:nvSpPr>
        <p:spPr>
          <a:xfrm>
            <a:off x="10113264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24" name="Text 20">
            <a:extLst>
              <a:ext uri="{FF2B5EF4-FFF2-40B4-BE49-F238E27FC236}">
                <a16:creationId xmlns:a16="http://schemas.microsoft.com/office/drawing/2014/main" id="{C13F8AFF-00B8-5CCD-7BCC-232384CD10BA}"/>
              </a:ext>
            </a:extLst>
          </p:cNvPr>
          <p:cNvSpPr/>
          <p:nvPr/>
        </p:nvSpPr>
        <p:spPr>
          <a:xfrm>
            <a:off x="9345168" y="283464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Committed Secrets</a:t>
            </a:r>
            <a:endParaRPr lang="en-US" sz="1450" dirty="0"/>
          </a:p>
        </p:txBody>
      </p:sp>
      <p:sp>
        <p:nvSpPr>
          <p:cNvPr id="126" name="Text 21">
            <a:extLst>
              <a:ext uri="{FF2B5EF4-FFF2-40B4-BE49-F238E27FC236}">
                <a16:creationId xmlns:a16="http://schemas.microsoft.com/office/drawing/2014/main" id="{3D77DD1C-B3B0-EEE7-87F4-40F8DB2F33CE}"/>
              </a:ext>
            </a:extLst>
          </p:cNvPr>
          <p:cNvSpPr/>
          <p:nvPr/>
        </p:nvSpPr>
        <p:spPr>
          <a:xfrm>
            <a:off x="9345168" y="3566160"/>
            <a:ext cx="21762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Database, JWT, and admin credentials — all environment variables</a:t>
            </a:r>
            <a:endParaRPr lang="en-US" sz="1150" dirty="0"/>
          </a:p>
        </p:txBody>
      </p:sp>
      <p:sp>
        <p:nvSpPr>
          <p:cNvPr id="128" name="Text 22">
            <a:extLst>
              <a:ext uri="{FF2B5EF4-FFF2-40B4-BE49-F238E27FC236}">
                <a16:creationId xmlns:a16="http://schemas.microsoft.com/office/drawing/2014/main" id="{D702E252-6757-336D-39E9-518843F8A9E0}"/>
              </a:ext>
            </a:extLst>
          </p:cNvPr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28401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F789D2-A770-813C-5349-0ADB4D4F3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>
            <a:extLst>
              <a:ext uri="{FF2B5EF4-FFF2-40B4-BE49-F238E27FC236}">
                <a16:creationId xmlns:a16="http://schemas.microsoft.com/office/drawing/2014/main" id="{90FB95F5-26BB-373B-EC3E-41DCC0531281}"/>
              </a:ext>
            </a:extLst>
          </p:cNvPr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</a:t>
            </a:r>
            <a:endParaRPr lang="en-US" sz="1300" dirty="0"/>
          </a:p>
        </p:txBody>
      </p:sp>
      <p:sp>
        <p:nvSpPr>
          <p:cNvPr id="84" name="Text 1">
            <a:extLst>
              <a:ext uri="{FF2B5EF4-FFF2-40B4-BE49-F238E27FC236}">
                <a16:creationId xmlns:a16="http://schemas.microsoft.com/office/drawing/2014/main" id="{C1347368-E6AC-DB77-8485-E05B990BB92F}"/>
              </a:ext>
            </a:extLst>
          </p:cNvPr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local demo — a real, deployed system</a:t>
            </a:r>
            <a:endParaRPr lang="en-US" sz="2800" dirty="0"/>
          </a:p>
        </p:txBody>
      </p:sp>
      <p:sp>
        <p:nvSpPr>
          <p:cNvPr id="86" name="Shape 2">
            <a:extLst>
              <a:ext uri="{FF2B5EF4-FFF2-40B4-BE49-F238E27FC236}">
                <a16:creationId xmlns:a16="http://schemas.microsoft.com/office/drawing/2014/main" id="{05456D46-EF5F-A29E-3EF1-8ABF8F74ACB9}"/>
              </a:ext>
            </a:extLst>
          </p:cNvPr>
          <p:cNvSpPr/>
          <p:nvPr/>
        </p:nvSpPr>
        <p:spPr>
          <a:xfrm>
            <a:off x="640080" y="1691640"/>
            <a:ext cx="2578608" cy="416052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8" name="Shape 3">
            <a:extLst>
              <a:ext uri="{FF2B5EF4-FFF2-40B4-BE49-F238E27FC236}">
                <a16:creationId xmlns:a16="http://schemas.microsoft.com/office/drawing/2014/main" id="{2BBB3329-0EC3-0FC5-C648-6F9BABC3899D}"/>
              </a:ext>
            </a:extLst>
          </p:cNvPr>
          <p:cNvSpPr/>
          <p:nvPr/>
        </p:nvSpPr>
        <p:spPr>
          <a:xfrm>
            <a:off x="1609344" y="2011680"/>
            <a:ext cx="640080" cy="640080"/>
          </a:xfrm>
          <a:prstGeom prst="ellipse">
            <a:avLst/>
          </a:prstGeom>
          <a:solidFill>
            <a:srgbClr val="12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4">
            <a:extLst>
              <a:ext uri="{FF2B5EF4-FFF2-40B4-BE49-F238E27FC236}">
                <a16:creationId xmlns:a16="http://schemas.microsoft.com/office/drawing/2014/main" id="{DDC77DE7-043F-8582-4097-84E55EBC4CD8}"/>
              </a:ext>
            </a:extLst>
          </p:cNvPr>
          <p:cNvSpPr/>
          <p:nvPr/>
        </p:nvSpPr>
        <p:spPr>
          <a:xfrm>
            <a:off x="1609344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2" name="Text 5">
            <a:extLst>
              <a:ext uri="{FF2B5EF4-FFF2-40B4-BE49-F238E27FC236}">
                <a16:creationId xmlns:a16="http://schemas.microsoft.com/office/drawing/2014/main" id="{2C7FD030-3B39-D3A5-F83A-3441EC7D7A13}"/>
              </a:ext>
            </a:extLst>
          </p:cNvPr>
          <p:cNvSpPr/>
          <p:nvPr/>
        </p:nvSpPr>
        <p:spPr>
          <a:xfrm>
            <a:off x="841248" y="283464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450" dirty="0"/>
          </a:p>
        </p:txBody>
      </p:sp>
      <p:sp>
        <p:nvSpPr>
          <p:cNvPr id="94" name="Text 6">
            <a:extLst>
              <a:ext uri="{FF2B5EF4-FFF2-40B4-BE49-F238E27FC236}">
                <a16:creationId xmlns:a16="http://schemas.microsoft.com/office/drawing/2014/main" id="{CAF7B81F-B770-B66E-9BFF-843077657633}"/>
              </a:ext>
            </a:extLst>
          </p:cNvPr>
          <p:cNvSpPr/>
          <p:nvPr/>
        </p:nvSpPr>
        <p:spPr>
          <a:xfrm>
            <a:off x="841248" y="3566160"/>
            <a:ext cx="21762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frontend, deployed to a global CDN</a:t>
            </a:r>
            <a:endParaRPr lang="en-US" sz="1150" dirty="0"/>
          </a:p>
        </p:txBody>
      </p:sp>
      <p:sp>
        <p:nvSpPr>
          <p:cNvPr id="96" name="Shape 7">
            <a:extLst>
              <a:ext uri="{FF2B5EF4-FFF2-40B4-BE49-F238E27FC236}">
                <a16:creationId xmlns:a16="http://schemas.microsoft.com/office/drawing/2014/main" id="{F07CE6D5-3B21-F2EC-0790-CF51E64B0705}"/>
              </a:ext>
            </a:extLst>
          </p:cNvPr>
          <p:cNvSpPr/>
          <p:nvPr/>
        </p:nvSpPr>
        <p:spPr>
          <a:xfrm>
            <a:off x="3474720" y="1691640"/>
            <a:ext cx="2578608" cy="416052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8" name="Shape 8">
            <a:extLst>
              <a:ext uri="{FF2B5EF4-FFF2-40B4-BE49-F238E27FC236}">
                <a16:creationId xmlns:a16="http://schemas.microsoft.com/office/drawing/2014/main" id="{4075DDE1-6FE2-D2C1-3DE6-69C8508175E5}"/>
              </a:ext>
            </a:extLst>
          </p:cNvPr>
          <p:cNvSpPr/>
          <p:nvPr/>
        </p:nvSpPr>
        <p:spPr>
          <a:xfrm>
            <a:off x="4443984" y="2011680"/>
            <a:ext cx="640080" cy="640080"/>
          </a:xfrm>
          <a:prstGeom prst="ellipse">
            <a:avLst/>
          </a:prstGeom>
          <a:solidFill>
            <a:srgbClr val="12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324233A1-269E-B9E6-655A-6F6A544A3CC0}"/>
              </a:ext>
            </a:extLst>
          </p:cNvPr>
          <p:cNvSpPr/>
          <p:nvPr/>
        </p:nvSpPr>
        <p:spPr>
          <a:xfrm>
            <a:off x="4443984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2" name="Text 10">
            <a:extLst>
              <a:ext uri="{FF2B5EF4-FFF2-40B4-BE49-F238E27FC236}">
                <a16:creationId xmlns:a16="http://schemas.microsoft.com/office/drawing/2014/main" id="{F57ED586-5F5B-8EF6-B924-9E00991EF267}"/>
              </a:ext>
            </a:extLst>
          </p:cNvPr>
          <p:cNvSpPr/>
          <p:nvPr/>
        </p:nvSpPr>
        <p:spPr>
          <a:xfrm>
            <a:off x="3675888" y="283464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450" dirty="0"/>
          </a:p>
        </p:txBody>
      </p:sp>
      <p:sp>
        <p:nvSpPr>
          <p:cNvPr id="104" name="Text 11">
            <a:extLst>
              <a:ext uri="{FF2B5EF4-FFF2-40B4-BE49-F238E27FC236}">
                <a16:creationId xmlns:a16="http://schemas.microsoft.com/office/drawing/2014/main" id="{A35BF01F-76C3-D78B-8066-5C0D33037612}"/>
              </a:ext>
            </a:extLst>
          </p:cNvPr>
          <p:cNvSpPr/>
          <p:nvPr/>
        </p:nvSpPr>
        <p:spPr>
          <a:xfrm>
            <a:off x="3675888" y="3566160"/>
            <a:ext cx="21762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backend, containerized and running live</a:t>
            </a:r>
            <a:endParaRPr lang="en-US" sz="1150" dirty="0"/>
          </a:p>
        </p:txBody>
      </p:sp>
      <p:sp>
        <p:nvSpPr>
          <p:cNvPr id="106" name="Shape 12">
            <a:extLst>
              <a:ext uri="{FF2B5EF4-FFF2-40B4-BE49-F238E27FC236}">
                <a16:creationId xmlns:a16="http://schemas.microsoft.com/office/drawing/2014/main" id="{F783B68F-31C1-B37D-13F8-DABCB45C2747}"/>
              </a:ext>
            </a:extLst>
          </p:cNvPr>
          <p:cNvSpPr/>
          <p:nvPr/>
        </p:nvSpPr>
        <p:spPr>
          <a:xfrm>
            <a:off x="6309360" y="1691640"/>
            <a:ext cx="2578608" cy="416052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8" name="Shape 13">
            <a:extLst>
              <a:ext uri="{FF2B5EF4-FFF2-40B4-BE49-F238E27FC236}">
                <a16:creationId xmlns:a16="http://schemas.microsoft.com/office/drawing/2014/main" id="{C1C80953-0513-792B-2612-723C23EF0018}"/>
              </a:ext>
            </a:extLst>
          </p:cNvPr>
          <p:cNvSpPr/>
          <p:nvPr/>
        </p:nvSpPr>
        <p:spPr>
          <a:xfrm>
            <a:off x="7278624" y="2011680"/>
            <a:ext cx="640080" cy="640080"/>
          </a:xfrm>
          <a:prstGeom prst="ellipse">
            <a:avLst/>
          </a:prstGeom>
          <a:solidFill>
            <a:srgbClr val="12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Text 14">
            <a:extLst>
              <a:ext uri="{FF2B5EF4-FFF2-40B4-BE49-F238E27FC236}">
                <a16:creationId xmlns:a16="http://schemas.microsoft.com/office/drawing/2014/main" id="{07AA14B5-3835-212F-A2A4-4285D51654B4}"/>
              </a:ext>
            </a:extLst>
          </p:cNvPr>
          <p:cNvSpPr/>
          <p:nvPr/>
        </p:nvSpPr>
        <p:spPr>
          <a:xfrm>
            <a:off x="7278624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12" name="Text 15">
            <a:extLst>
              <a:ext uri="{FF2B5EF4-FFF2-40B4-BE49-F238E27FC236}">
                <a16:creationId xmlns:a16="http://schemas.microsoft.com/office/drawing/2014/main" id="{44FCEB45-9FBD-6023-80EA-AEE29591BFDA}"/>
              </a:ext>
            </a:extLst>
          </p:cNvPr>
          <p:cNvSpPr/>
          <p:nvPr/>
        </p:nvSpPr>
        <p:spPr>
          <a:xfrm>
            <a:off x="6510528" y="283464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</a:t>
            </a:r>
            <a:endParaRPr lang="en-US" sz="1450" dirty="0"/>
          </a:p>
        </p:txBody>
      </p:sp>
      <p:sp>
        <p:nvSpPr>
          <p:cNvPr id="114" name="Text 16">
            <a:extLst>
              <a:ext uri="{FF2B5EF4-FFF2-40B4-BE49-F238E27FC236}">
                <a16:creationId xmlns:a16="http://schemas.microsoft.com/office/drawing/2014/main" id="{0837B5DB-3F45-8630-09C0-44407D53B0D1}"/>
              </a:ext>
            </a:extLst>
          </p:cNvPr>
          <p:cNvSpPr/>
          <p:nvPr/>
        </p:nvSpPr>
        <p:spPr>
          <a:xfrm>
            <a:off x="6510528" y="3566160"/>
            <a:ext cx="21762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PostgreSQL, the system of record</a:t>
            </a:r>
            <a:endParaRPr lang="en-US" sz="1150" dirty="0"/>
          </a:p>
        </p:txBody>
      </p:sp>
      <p:sp>
        <p:nvSpPr>
          <p:cNvPr id="116" name="Shape 17">
            <a:extLst>
              <a:ext uri="{FF2B5EF4-FFF2-40B4-BE49-F238E27FC236}">
                <a16:creationId xmlns:a16="http://schemas.microsoft.com/office/drawing/2014/main" id="{D4E90B66-F393-8CF4-71E1-95B1D979E7F2}"/>
              </a:ext>
            </a:extLst>
          </p:cNvPr>
          <p:cNvSpPr/>
          <p:nvPr/>
        </p:nvSpPr>
        <p:spPr>
          <a:xfrm>
            <a:off x="9144000" y="1691640"/>
            <a:ext cx="2578608" cy="416052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8" name="Shape 18">
            <a:extLst>
              <a:ext uri="{FF2B5EF4-FFF2-40B4-BE49-F238E27FC236}">
                <a16:creationId xmlns:a16="http://schemas.microsoft.com/office/drawing/2014/main" id="{77FBDC8B-789B-697D-29A3-4C32B9F3BBB4}"/>
              </a:ext>
            </a:extLst>
          </p:cNvPr>
          <p:cNvSpPr/>
          <p:nvPr/>
        </p:nvSpPr>
        <p:spPr>
          <a:xfrm>
            <a:off x="10113264" y="2011680"/>
            <a:ext cx="640080" cy="640080"/>
          </a:xfrm>
          <a:prstGeom prst="ellipse">
            <a:avLst/>
          </a:prstGeom>
          <a:solidFill>
            <a:srgbClr val="12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Text 19">
            <a:extLst>
              <a:ext uri="{FF2B5EF4-FFF2-40B4-BE49-F238E27FC236}">
                <a16:creationId xmlns:a16="http://schemas.microsoft.com/office/drawing/2014/main" id="{D4D36ADC-2AD7-5835-3721-132DF367EF1C}"/>
              </a:ext>
            </a:extLst>
          </p:cNvPr>
          <p:cNvSpPr/>
          <p:nvPr/>
        </p:nvSpPr>
        <p:spPr>
          <a:xfrm>
            <a:off x="10113264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22" name="Text 20">
            <a:extLst>
              <a:ext uri="{FF2B5EF4-FFF2-40B4-BE49-F238E27FC236}">
                <a16:creationId xmlns:a16="http://schemas.microsoft.com/office/drawing/2014/main" id="{268FF7CC-A47A-8044-7E01-422322BF6736}"/>
              </a:ext>
            </a:extLst>
          </p:cNvPr>
          <p:cNvSpPr/>
          <p:nvPr/>
        </p:nvSpPr>
        <p:spPr>
          <a:xfrm>
            <a:off x="9345168" y="283464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</a:t>
            </a:r>
            <a:endParaRPr lang="en-US" sz="1450" dirty="0"/>
          </a:p>
        </p:txBody>
      </p:sp>
      <p:sp>
        <p:nvSpPr>
          <p:cNvPr id="124" name="Text 21">
            <a:extLst>
              <a:ext uri="{FF2B5EF4-FFF2-40B4-BE49-F238E27FC236}">
                <a16:creationId xmlns:a16="http://schemas.microsoft.com/office/drawing/2014/main" id="{3E370E44-589C-A2A8-7C7D-4AB0CD12BDF6}"/>
              </a:ext>
            </a:extLst>
          </p:cNvPr>
          <p:cNvSpPr/>
          <p:nvPr/>
        </p:nvSpPr>
        <p:spPr>
          <a:xfrm>
            <a:off x="9345168" y="3566160"/>
            <a:ext cx="21762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travels the real path — browser to database and back</a:t>
            </a:r>
            <a:endParaRPr lang="en-US" sz="1150" dirty="0"/>
          </a:p>
        </p:txBody>
      </p:sp>
      <p:sp>
        <p:nvSpPr>
          <p:cNvPr id="126" name="Text 22">
            <a:extLst>
              <a:ext uri="{FF2B5EF4-FFF2-40B4-BE49-F238E27FC236}">
                <a16:creationId xmlns:a16="http://schemas.microsoft.com/office/drawing/2014/main" id="{A00F2D41-79C1-3439-F243-993C52BD8B16}"/>
              </a:ext>
            </a:extLst>
          </p:cNvPr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097765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C72CDB-36F4-C35F-D5E4-2818D0046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0">
            <a:extLst>
              <a:ext uri="{FF2B5EF4-FFF2-40B4-BE49-F238E27FC236}">
                <a16:creationId xmlns:a16="http://schemas.microsoft.com/office/drawing/2014/main" id="{0356C9C5-2EDA-59A8-D4D1-E91ACB0B5C87}"/>
              </a:ext>
            </a:extLst>
          </p:cNvPr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40" name="Text 1">
            <a:extLst>
              <a:ext uri="{FF2B5EF4-FFF2-40B4-BE49-F238E27FC236}">
                <a16:creationId xmlns:a16="http://schemas.microsoft.com/office/drawing/2014/main" id="{02BB3200-4889-EAB1-4DD6-5B74845AC8D6}"/>
              </a:ext>
            </a:extLst>
          </p:cNvPr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documentation to a working system</a:t>
            </a:r>
            <a:endParaRPr lang="en-US" sz="2800" dirty="0"/>
          </a:p>
        </p:txBody>
      </p:sp>
      <p:sp>
        <p:nvSpPr>
          <p:cNvPr id="42" name="Shape 2">
            <a:extLst>
              <a:ext uri="{FF2B5EF4-FFF2-40B4-BE49-F238E27FC236}">
                <a16:creationId xmlns:a16="http://schemas.microsoft.com/office/drawing/2014/main" id="{8BD64545-7FD1-BE23-92F7-337301F79147}"/>
              </a:ext>
            </a:extLst>
          </p:cNvPr>
          <p:cNvSpPr/>
          <p:nvPr/>
        </p:nvSpPr>
        <p:spPr>
          <a:xfrm>
            <a:off x="822960" y="2953512"/>
            <a:ext cx="10515600" cy="0"/>
          </a:xfrm>
          <a:prstGeom prst="line">
            <a:avLst/>
          </a:prstGeom>
          <a:noFill/>
          <a:ln w="25400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">
            <a:extLst>
              <a:ext uri="{FF2B5EF4-FFF2-40B4-BE49-F238E27FC236}">
                <a16:creationId xmlns:a16="http://schemas.microsoft.com/office/drawing/2014/main" id="{47F47F0C-C954-6D49-A065-3629FB46F7FE}"/>
              </a:ext>
            </a:extLst>
          </p:cNvPr>
          <p:cNvSpPr/>
          <p:nvPr/>
        </p:nvSpPr>
        <p:spPr>
          <a:xfrm>
            <a:off x="1552956" y="2807208"/>
            <a:ext cx="292608" cy="292608"/>
          </a:xfrm>
          <a:prstGeom prst="ellipse">
            <a:avLst/>
          </a:prstGeom>
          <a:solidFill>
            <a:srgbClr val="FF6B35"/>
          </a:solidFill>
          <a:ln w="25400">
            <a:solidFill>
              <a:srgbClr val="E8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">
            <a:extLst>
              <a:ext uri="{FF2B5EF4-FFF2-40B4-BE49-F238E27FC236}">
                <a16:creationId xmlns:a16="http://schemas.microsoft.com/office/drawing/2014/main" id="{092EC348-9D1E-0F18-AF13-EE5C1C1D27B9}"/>
              </a:ext>
            </a:extLst>
          </p:cNvPr>
          <p:cNvSpPr/>
          <p:nvPr/>
        </p:nvSpPr>
        <p:spPr>
          <a:xfrm>
            <a:off x="1552956" y="2807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8" name="Shape 5">
            <a:extLst>
              <a:ext uri="{FF2B5EF4-FFF2-40B4-BE49-F238E27FC236}">
                <a16:creationId xmlns:a16="http://schemas.microsoft.com/office/drawing/2014/main" id="{00D3FF1E-AEEC-5A70-CC88-6C76E4BF1DD4}"/>
              </a:ext>
            </a:extLst>
          </p:cNvPr>
          <p:cNvSpPr/>
          <p:nvPr/>
        </p:nvSpPr>
        <p:spPr>
          <a:xfrm>
            <a:off x="932688" y="1764792"/>
            <a:ext cx="1533144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6">
            <a:extLst>
              <a:ext uri="{FF2B5EF4-FFF2-40B4-BE49-F238E27FC236}">
                <a16:creationId xmlns:a16="http://schemas.microsoft.com/office/drawing/2014/main" id="{F122C722-2A88-9CE6-C40E-CFAF3434568F}"/>
              </a:ext>
            </a:extLst>
          </p:cNvPr>
          <p:cNvSpPr/>
          <p:nvPr/>
        </p:nvSpPr>
        <p:spPr>
          <a:xfrm>
            <a:off x="1042416" y="1874520"/>
            <a:ext cx="1313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Document</a:t>
            </a:r>
            <a:endParaRPr lang="en-US" sz="1150" dirty="0"/>
          </a:p>
        </p:txBody>
      </p:sp>
      <p:sp>
        <p:nvSpPr>
          <p:cNvPr id="52" name="Text 7">
            <a:extLst>
              <a:ext uri="{FF2B5EF4-FFF2-40B4-BE49-F238E27FC236}">
                <a16:creationId xmlns:a16="http://schemas.microsoft.com/office/drawing/2014/main" id="{529B6913-404A-8312-9B12-7F9FB43A83FB}"/>
              </a:ext>
            </a:extLst>
          </p:cNvPr>
          <p:cNvSpPr/>
          <p:nvPr/>
        </p:nvSpPr>
        <p:spPr>
          <a:xfrm>
            <a:off x="1042416" y="2249424"/>
            <a:ext cx="1313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statement, stakeholders, and feature needs</a:t>
            </a:r>
            <a:endParaRPr lang="en-US" sz="900" dirty="0"/>
          </a:p>
        </p:txBody>
      </p:sp>
      <p:sp>
        <p:nvSpPr>
          <p:cNvPr id="54" name="Shape 8">
            <a:extLst>
              <a:ext uri="{FF2B5EF4-FFF2-40B4-BE49-F238E27FC236}">
                <a16:creationId xmlns:a16="http://schemas.microsoft.com/office/drawing/2014/main" id="{61668D1F-4CDA-39A4-9868-5C954310740E}"/>
              </a:ext>
            </a:extLst>
          </p:cNvPr>
          <p:cNvSpPr/>
          <p:nvPr/>
        </p:nvSpPr>
        <p:spPr>
          <a:xfrm>
            <a:off x="3305556" y="2807208"/>
            <a:ext cx="292608" cy="292608"/>
          </a:xfrm>
          <a:prstGeom prst="ellipse">
            <a:avLst/>
          </a:prstGeom>
          <a:solidFill>
            <a:srgbClr val="FF6B35"/>
          </a:solidFill>
          <a:ln w="25400">
            <a:solidFill>
              <a:srgbClr val="E8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9">
            <a:extLst>
              <a:ext uri="{FF2B5EF4-FFF2-40B4-BE49-F238E27FC236}">
                <a16:creationId xmlns:a16="http://schemas.microsoft.com/office/drawing/2014/main" id="{B2138BFC-DE7D-3993-4BC9-4E8FA043373A}"/>
              </a:ext>
            </a:extLst>
          </p:cNvPr>
          <p:cNvSpPr/>
          <p:nvPr/>
        </p:nvSpPr>
        <p:spPr>
          <a:xfrm>
            <a:off x="3305556" y="2807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8" name="Shape 10">
            <a:extLst>
              <a:ext uri="{FF2B5EF4-FFF2-40B4-BE49-F238E27FC236}">
                <a16:creationId xmlns:a16="http://schemas.microsoft.com/office/drawing/2014/main" id="{4251C208-3337-D3E9-5E8F-B3B9E9D8A939}"/>
              </a:ext>
            </a:extLst>
          </p:cNvPr>
          <p:cNvSpPr/>
          <p:nvPr/>
        </p:nvSpPr>
        <p:spPr>
          <a:xfrm>
            <a:off x="2685288" y="3364992"/>
            <a:ext cx="1533144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Text 11">
            <a:extLst>
              <a:ext uri="{FF2B5EF4-FFF2-40B4-BE49-F238E27FC236}">
                <a16:creationId xmlns:a16="http://schemas.microsoft.com/office/drawing/2014/main" id="{7493079E-D997-7F4D-2A67-DD4BB1D9FB66}"/>
              </a:ext>
            </a:extLst>
          </p:cNvPr>
          <p:cNvSpPr/>
          <p:nvPr/>
        </p:nvSpPr>
        <p:spPr>
          <a:xfrm>
            <a:off x="2795016" y="3474720"/>
            <a:ext cx="1313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&amp; Use-Case Model</a:t>
            </a:r>
            <a:endParaRPr lang="en-US" sz="1150" dirty="0"/>
          </a:p>
        </p:txBody>
      </p:sp>
      <p:sp>
        <p:nvSpPr>
          <p:cNvPr id="62" name="Text 12">
            <a:extLst>
              <a:ext uri="{FF2B5EF4-FFF2-40B4-BE49-F238E27FC236}">
                <a16:creationId xmlns:a16="http://schemas.microsoft.com/office/drawing/2014/main" id="{79BDB8D3-6E35-18CF-76C5-49F58AF0556E}"/>
              </a:ext>
            </a:extLst>
          </p:cNvPr>
          <p:cNvSpPr/>
          <p:nvPr/>
        </p:nvSpPr>
        <p:spPr>
          <a:xfrm>
            <a:off x="2795016" y="3849624"/>
            <a:ext cx="1313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requirements, actors, use-case diagrams</a:t>
            </a:r>
            <a:endParaRPr lang="en-US" sz="900" dirty="0"/>
          </a:p>
        </p:txBody>
      </p:sp>
      <p:sp>
        <p:nvSpPr>
          <p:cNvPr id="64" name="Shape 13">
            <a:extLst>
              <a:ext uri="{FF2B5EF4-FFF2-40B4-BE49-F238E27FC236}">
                <a16:creationId xmlns:a16="http://schemas.microsoft.com/office/drawing/2014/main" id="{D425DDCF-3B76-65C3-B565-C7177E0B80AE}"/>
              </a:ext>
            </a:extLst>
          </p:cNvPr>
          <p:cNvSpPr/>
          <p:nvPr/>
        </p:nvSpPr>
        <p:spPr>
          <a:xfrm>
            <a:off x="5058156" y="2807208"/>
            <a:ext cx="292608" cy="292608"/>
          </a:xfrm>
          <a:prstGeom prst="ellipse">
            <a:avLst/>
          </a:prstGeom>
          <a:solidFill>
            <a:srgbClr val="FF6B35"/>
          </a:solidFill>
          <a:ln w="25400">
            <a:solidFill>
              <a:srgbClr val="E8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14">
            <a:extLst>
              <a:ext uri="{FF2B5EF4-FFF2-40B4-BE49-F238E27FC236}">
                <a16:creationId xmlns:a16="http://schemas.microsoft.com/office/drawing/2014/main" id="{7135B9C1-A332-5307-0A03-F585B449691D}"/>
              </a:ext>
            </a:extLst>
          </p:cNvPr>
          <p:cNvSpPr/>
          <p:nvPr/>
        </p:nvSpPr>
        <p:spPr>
          <a:xfrm>
            <a:off x="5058156" y="2807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8" name="Shape 15">
            <a:extLst>
              <a:ext uri="{FF2B5EF4-FFF2-40B4-BE49-F238E27FC236}">
                <a16:creationId xmlns:a16="http://schemas.microsoft.com/office/drawing/2014/main" id="{0478357C-E383-C0F4-1FE1-14A3EF84ECBA}"/>
              </a:ext>
            </a:extLst>
          </p:cNvPr>
          <p:cNvSpPr/>
          <p:nvPr/>
        </p:nvSpPr>
        <p:spPr>
          <a:xfrm>
            <a:off x="4437888" y="1764792"/>
            <a:ext cx="1533144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Text 16">
            <a:extLst>
              <a:ext uri="{FF2B5EF4-FFF2-40B4-BE49-F238E27FC236}">
                <a16:creationId xmlns:a16="http://schemas.microsoft.com/office/drawing/2014/main" id="{F9CA0761-A5C9-6E4F-742E-87090DA1E8EC}"/>
              </a:ext>
            </a:extLst>
          </p:cNvPr>
          <p:cNvSpPr/>
          <p:nvPr/>
        </p:nvSpPr>
        <p:spPr>
          <a:xfrm>
            <a:off x="4547616" y="1874520"/>
            <a:ext cx="1313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50" dirty="0"/>
          </a:p>
        </p:txBody>
      </p:sp>
      <p:sp>
        <p:nvSpPr>
          <p:cNvPr id="72" name="Text 17">
            <a:extLst>
              <a:ext uri="{FF2B5EF4-FFF2-40B4-BE49-F238E27FC236}">
                <a16:creationId xmlns:a16="http://schemas.microsoft.com/office/drawing/2014/main" id="{6C10240F-E7E3-BEF1-2206-87956318D01C}"/>
              </a:ext>
            </a:extLst>
          </p:cNvPr>
          <p:cNvSpPr/>
          <p:nvPr/>
        </p:nvSpPr>
        <p:spPr>
          <a:xfrm>
            <a:off x="4547616" y="2249424"/>
            <a:ext cx="1313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React + Spring Boot architecture</a:t>
            </a:r>
            <a:endParaRPr lang="en-US" sz="900" dirty="0"/>
          </a:p>
        </p:txBody>
      </p:sp>
      <p:sp>
        <p:nvSpPr>
          <p:cNvPr id="74" name="Shape 18">
            <a:extLst>
              <a:ext uri="{FF2B5EF4-FFF2-40B4-BE49-F238E27FC236}">
                <a16:creationId xmlns:a16="http://schemas.microsoft.com/office/drawing/2014/main" id="{BF8B1764-78AB-B0EF-405E-B7E86328C643}"/>
              </a:ext>
            </a:extLst>
          </p:cNvPr>
          <p:cNvSpPr/>
          <p:nvPr/>
        </p:nvSpPr>
        <p:spPr>
          <a:xfrm>
            <a:off x="6810756" y="2807208"/>
            <a:ext cx="292608" cy="292608"/>
          </a:xfrm>
          <a:prstGeom prst="ellipse">
            <a:avLst/>
          </a:prstGeom>
          <a:solidFill>
            <a:srgbClr val="FF6B35"/>
          </a:solidFill>
          <a:ln w="25400">
            <a:solidFill>
              <a:srgbClr val="E8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19">
            <a:extLst>
              <a:ext uri="{FF2B5EF4-FFF2-40B4-BE49-F238E27FC236}">
                <a16:creationId xmlns:a16="http://schemas.microsoft.com/office/drawing/2014/main" id="{F6639B1D-60D8-21BA-AE0B-31F504281573}"/>
              </a:ext>
            </a:extLst>
          </p:cNvPr>
          <p:cNvSpPr/>
          <p:nvPr/>
        </p:nvSpPr>
        <p:spPr>
          <a:xfrm>
            <a:off x="6810756" y="2807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8" name="Shape 20">
            <a:extLst>
              <a:ext uri="{FF2B5EF4-FFF2-40B4-BE49-F238E27FC236}">
                <a16:creationId xmlns:a16="http://schemas.microsoft.com/office/drawing/2014/main" id="{9BB90678-561D-1A86-7965-54B54BCB6719}"/>
              </a:ext>
            </a:extLst>
          </p:cNvPr>
          <p:cNvSpPr/>
          <p:nvPr/>
        </p:nvSpPr>
        <p:spPr>
          <a:xfrm>
            <a:off x="6190488" y="3364992"/>
            <a:ext cx="1533144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0" name="Text 21">
            <a:extLst>
              <a:ext uri="{FF2B5EF4-FFF2-40B4-BE49-F238E27FC236}">
                <a16:creationId xmlns:a16="http://schemas.microsoft.com/office/drawing/2014/main" id="{5020A285-F240-3CAB-CDBD-BF8022561720}"/>
              </a:ext>
            </a:extLst>
          </p:cNvPr>
          <p:cNvSpPr/>
          <p:nvPr/>
        </p:nvSpPr>
        <p:spPr>
          <a:xfrm>
            <a:off x="6300216" y="3474720"/>
            <a:ext cx="1313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Diagrams</a:t>
            </a:r>
            <a:endParaRPr lang="en-US" sz="1150" dirty="0"/>
          </a:p>
        </p:txBody>
      </p:sp>
      <p:sp>
        <p:nvSpPr>
          <p:cNvPr id="82" name="Text 22">
            <a:extLst>
              <a:ext uri="{FF2B5EF4-FFF2-40B4-BE49-F238E27FC236}">
                <a16:creationId xmlns:a16="http://schemas.microsoft.com/office/drawing/2014/main" id="{AADC9EAC-EC20-9EEB-BE7D-693A6EF4706D}"/>
              </a:ext>
            </a:extLst>
          </p:cNvPr>
          <p:cNvSpPr/>
          <p:nvPr/>
        </p:nvSpPr>
        <p:spPr>
          <a:xfrm>
            <a:off x="6300216" y="3849624"/>
            <a:ext cx="1313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Reservation, Check-In, and Payment traced in detail</a:t>
            </a:r>
            <a:endParaRPr lang="en-US" sz="900" dirty="0"/>
          </a:p>
        </p:txBody>
      </p:sp>
      <p:sp>
        <p:nvSpPr>
          <p:cNvPr id="84" name="Shape 23">
            <a:extLst>
              <a:ext uri="{FF2B5EF4-FFF2-40B4-BE49-F238E27FC236}">
                <a16:creationId xmlns:a16="http://schemas.microsoft.com/office/drawing/2014/main" id="{3C061254-AC51-45B7-3153-EE39D43C92E6}"/>
              </a:ext>
            </a:extLst>
          </p:cNvPr>
          <p:cNvSpPr/>
          <p:nvPr/>
        </p:nvSpPr>
        <p:spPr>
          <a:xfrm>
            <a:off x="8563356" y="2807208"/>
            <a:ext cx="292608" cy="292608"/>
          </a:xfrm>
          <a:prstGeom prst="ellipse">
            <a:avLst/>
          </a:prstGeom>
          <a:solidFill>
            <a:srgbClr val="FF6B35"/>
          </a:solidFill>
          <a:ln w="25400">
            <a:solidFill>
              <a:srgbClr val="E8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70B10022-C217-21B4-D171-0CBD1C051C74}"/>
              </a:ext>
            </a:extLst>
          </p:cNvPr>
          <p:cNvSpPr/>
          <p:nvPr/>
        </p:nvSpPr>
        <p:spPr>
          <a:xfrm>
            <a:off x="8563356" y="2807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8" name="Shape 25">
            <a:extLst>
              <a:ext uri="{FF2B5EF4-FFF2-40B4-BE49-F238E27FC236}">
                <a16:creationId xmlns:a16="http://schemas.microsoft.com/office/drawing/2014/main" id="{C964EE3B-1FB5-2AF7-F2E8-20B24431E958}"/>
              </a:ext>
            </a:extLst>
          </p:cNvPr>
          <p:cNvSpPr/>
          <p:nvPr/>
        </p:nvSpPr>
        <p:spPr>
          <a:xfrm>
            <a:off x="7943088" y="1764792"/>
            <a:ext cx="1533144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0" name="Text 26">
            <a:extLst>
              <a:ext uri="{FF2B5EF4-FFF2-40B4-BE49-F238E27FC236}">
                <a16:creationId xmlns:a16="http://schemas.microsoft.com/office/drawing/2014/main" id="{534A4DCE-595B-B726-F8C2-7A5017BE0E6F}"/>
              </a:ext>
            </a:extLst>
          </p:cNvPr>
          <p:cNvSpPr/>
          <p:nvPr/>
        </p:nvSpPr>
        <p:spPr>
          <a:xfrm>
            <a:off x="8052816" y="1874520"/>
            <a:ext cx="1313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&amp; VOPC</a:t>
            </a:r>
            <a:endParaRPr lang="en-US" sz="1150" dirty="0"/>
          </a:p>
        </p:txBody>
      </p:sp>
      <p:sp>
        <p:nvSpPr>
          <p:cNvPr id="92" name="Text 27">
            <a:extLst>
              <a:ext uri="{FF2B5EF4-FFF2-40B4-BE49-F238E27FC236}">
                <a16:creationId xmlns:a16="http://schemas.microsoft.com/office/drawing/2014/main" id="{B4EE68E1-0EC8-4C49-8270-8D81C9E66C59}"/>
              </a:ext>
            </a:extLst>
          </p:cNvPr>
          <p:cNvSpPr/>
          <p:nvPr/>
        </p:nvSpPr>
        <p:spPr>
          <a:xfrm>
            <a:off x="8052816" y="2249424"/>
            <a:ext cx="1313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collaborations and participating classes</a:t>
            </a:r>
            <a:endParaRPr lang="en-US" sz="900" dirty="0"/>
          </a:p>
        </p:txBody>
      </p:sp>
      <p:sp>
        <p:nvSpPr>
          <p:cNvPr id="94" name="Shape 28">
            <a:extLst>
              <a:ext uri="{FF2B5EF4-FFF2-40B4-BE49-F238E27FC236}">
                <a16:creationId xmlns:a16="http://schemas.microsoft.com/office/drawing/2014/main" id="{37068C73-7311-7E44-42E5-CFB5FC3575C5}"/>
              </a:ext>
            </a:extLst>
          </p:cNvPr>
          <p:cNvSpPr/>
          <p:nvPr/>
        </p:nvSpPr>
        <p:spPr>
          <a:xfrm>
            <a:off x="10315956" y="2807208"/>
            <a:ext cx="292608" cy="292608"/>
          </a:xfrm>
          <a:prstGeom prst="ellipse">
            <a:avLst/>
          </a:prstGeom>
          <a:solidFill>
            <a:srgbClr val="FF6B35"/>
          </a:solidFill>
          <a:ln w="25400">
            <a:solidFill>
              <a:srgbClr val="E8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29">
            <a:extLst>
              <a:ext uri="{FF2B5EF4-FFF2-40B4-BE49-F238E27FC236}">
                <a16:creationId xmlns:a16="http://schemas.microsoft.com/office/drawing/2014/main" id="{1CF6AD15-D9C3-3150-0D6D-082BD389862B}"/>
              </a:ext>
            </a:extLst>
          </p:cNvPr>
          <p:cNvSpPr/>
          <p:nvPr/>
        </p:nvSpPr>
        <p:spPr>
          <a:xfrm>
            <a:off x="10315956" y="2807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98" name="Shape 30">
            <a:extLst>
              <a:ext uri="{FF2B5EF4-FFF2-40B4-BE49-F238E27FC236}">
                <a16:creationId xmlns:a16="http://schemas.microsoft.com/office/drawing/2014/main" id="{3A76BF23-EC04-74E7-A30F-E1C8570B3248}"/>
              </a:ext>
            </a:extLst>
          </p:cNvPr>
          <p:cNvSpPr/>
          <p:nvPr/>
        </p:nvSpPr>
        <p:spPr>
          <a:xfrm>
            <a:off x="9695688" y="3364992"/>
            <a:ext cx="1533144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1B3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0" name="Text 31">
            <a:extLst>
              <a:ext uri="{FF2B5EF4-FFF2-40B4-BE49-F238E27FC236}">
                <a16:creationId xmlns:a16="http://schemas.microsoft.com/office/drawing/2014/main" id="{CF15BC51-3AC6-4BB1-0351-4E6644C69F9B}"/>
              </a:ext>
            </a:extLst>
          </p:cNvPr>
          <p:cNvSpPr/>
          <p:nvPr/>
        </p:nvSpPr>
        <p:spPr>
          <a:xfrm>
            <a:off x="9805416" y="3474720"/>
            <a:ext cx="1313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Deployment</a:t>
            </a:r>
            <a:endParaRPr lang="en-US" sz="1150" dirty="0"/>
          </a:p>
        </p:txBody>
      </p:sp>
      <p:sp>
        <p:nvSpPr>
          <p:cNvPr id="102" name="Text 32">
            <a:extLst>
              <a:ext uri="{FF2B5EF4-FFF2-40B4-BE49-F238E27FC236}">
                <a16:creationId xmlns:a16="http://schemas.microsoft.com/office/drawing/2014/main" id="{F0FD07CE-6FF3-2E3F-74E1-FA4C80FF728D}"/>
              </a:ext>
            </a:extLst>
          </p:cNvPr>
          <p:cNvSpPr/>
          <p:nvPr/>
        </p:nvSpPr>
        <p:spPr>
          <a:xfrm>
            <a:off x="9805416" y="3849624"/>
            <a:ext cx="1313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app built, tested, and live in production</a:t>
            </a:r>
            <a:endParaRPr lang="en-US" sz="900" dirty="0"/>
          </a:p>
        </p:txBody>
      </p:sp>
      <p:sp>
        <p:nvSpPr>
          <p:cNvPr id="104" name="Text 33">
            <a:extLst>
              <a:ext uri="{FF2B5EF4-FFF2-40B4-BE49-F238E27FC236}">
                <a16:creationId xmlns:a16="http://schemas.microsoft.com/office/drawing/2014/main" id="{96D14BB7-4EC6-6A3B-C3AB-3E4A1A6DEF21}"/>
              </a:ext>
            </a:extLst>
          </p:cNvPr>
          <p:cNvSpPr/>
          <p:nvPr/>
        </p:nvSpPr>
        <p:spPr>
          <a:xfrm>
            <a:off x="64008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  </a:t>
            </a:r>
            <a:r>
              <a:rPr lang="en-US" sz="1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1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Live in Production   </a:t>
            </a:r>
            <a:r>
              <a:rPr lang="en-US" sz="1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06" name="Text 34">
            <a:extLst>
              <a:ext uri="{FF2B5EF4-FFF2-40B4-BE49-F238E27FC236}">
                <a16:creationId xmlns:a16="http://schemas.microsoft.com/office/drawing/2014/main" id="{47FD33EB-86C7-42A5-3339-7137A863F9A6}"/>
              </a:ext>
            </a:extLst>
          </p:cNvPr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04884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6400800" cy="6400800"/>
          </a:xfrm>
          <a:prstGeom prst="ellipse">
            <a:avLst/>
          </a:prstGeom>
          <a:solidFill>
            <a:srgbClr val="0B1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961120" y="3840480"/>
            <a:ext cx="5943600" cy="5943600"/>
          </a:xfrm>
          <a:prstGeom prst="ellipse">
            <a:avLst/>
          </a:prstGeom>
          <a:solidFill>
            <a:srgbClr val="0B1B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assets/logo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236" y="105156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88036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0" y="36118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1244</Words>
  <Application>Microsoft Office PowerPoint</Application>
  <PresentationFormat>Widescreen</PresentationFormat>
  <Paragraphs>265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Orion Leon Blackstock</cp:lastModifiedBy>
  <cp:revision>3</cp:revision>
  <dcterms:created xsi:type="dcterms:W3CDTF">2026-08-09T02:13:31Z</dcterms:created>
  <dcterms:modified xsi:type="dcterms:W3CDTF">2026-08-23T06:24:16Z</dcterms:modified>
</cp:coreProperties>
</file>